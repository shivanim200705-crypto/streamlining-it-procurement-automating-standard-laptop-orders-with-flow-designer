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33"/>
          </a:solidFill>
          <a:ln/>
        </p:spPr>
      </p:sp>
      <p:sp>
        <p:nvSpPr>
          <p:cNvPr id="3" name="Shape 1"/>
          <p:cNvSpPr/>
          <p:nvPr/>
        </p:nvSpPr>
        <p:spPr>
          <a:xfrm>
            <a:off x="0" y="0"/>
            <a:ext cx="137160" cy="5143500"/>
          </a:xfrm>
          <a:prstGeom prst="rect">
            <a:avLst/>
          </a:prstGeom>
          <a:solidFill>
            <a:srgbClr val="00A86B"/>
          </a:solidFill>
          <a:ln/>
        </p:spPr>
      </p:sp>
      <p:pic>
        <p:nvPicPr>
          <p:cNvPr id="4" name="Image 0" descr="preencoded.png">    </p:cNvPr>
          <p:cNvPicPr>
            <a:picLocks noChangeAspect="1"/>
          </p:cNvPicPr>
          <p:nvPr/>
        </p:nvPicPr>
        <p:blipFill>
          <a:blip r:embed="rId1"/>
          <a:stretch>
            <a:fillRect/>
          </a:stretch>
        </p:blipFill>
        <p:spPr>
          <a:xfrm>
            <a:off x="548640" y="1097280"/>
            <a:ext cx="548640" cy="548640"/>
          </a:xfrm>
          <a:prstGeom prst="rect">
            <a:avLst/>
          </a:prstGeom>
        </p:spPr>
      </p:pic>
      <p:sp>
        <p:nvSpPr>
          <p:cNvPr id="5" name="Text 2"/>
          <p:cNvSpPr/>
          <p:nvPr/>
        </p:nvSpPr>
        <p:spPr>
          <a:xfrm>
            <a:off x="1280160" y="1143000"/>
            <a:ext cx="731520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Streamlining IT Procurement</a:t>
            </a:r>
            <a:endParaRPr lang="en-US" sz="2800" dirty="0"/>
          </a:p>
        </p:txBody>
      </p:sp>
      <p:sp>
        <p:nvSpPr>
          <p:cNvPr id="6" name="Text 3"/>
          <p:cNvSpPr/>
          <p:nvPr/>
        </p:nvSpPr>
        <p:spPr>
          <a:xfrm>
            <a:off x="1280160" y="1645920"/>
            <a:ext cx="7315200" cy="365760"/>
          </a:xfrm>
          <a:prstGeom prst="rect">
            <a:avLst/>
          </a:prstGeom>
          <a:noFill/>
          <a:ln/>
        </p:spPr>
        <p:txBody>
          <a:bodyPr wrap="square" rtlCol="0" anchor="ctr"/>
          <a:lstStyle/>
          <a:p>
            <a:pPr indent="0" marL="0">
              <a:buNone/>
            </a:pPr>
            <a:r>
              <a:rPr lang="en-US" sz="1800" dirty="0">
                <a:solidFill>
                  <a:srgbClr val="34D399"/>
                </a:solidFill>
                <a:latin typeface="Arial" pitchFamily="34" charset="0"/>
                <a:ea typeface="Arial" pitchFamily="34" charset="-122"/>
                <a:cs typeface="Arial" pitchFamily="34" charset="-120"/>
              </a:rPr>
              <a:t>Automating Standard Laptop Orders with Flow Designer</a:t>
            </a:r>
            <a:endParaRPr lang="en-US" sz="1800" dirty="0"/>
          </a:p>
        </p:txBody>
      </p:sp>
      <p:sp>
        <p:nvSpPr>
          <p:cNvPr id="7" name="Text 4"/>
          <p:cNvSpPr/>
          <p:nvPr/>
        </p:nvSpPr>
        <p:spPr>
          <a:xfrm>
            <a:off x="1280160" y="2286000"/>
            <a:ext cx="7315200" cy="27432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ServiceNow Project Documentation  |  Phase-wise Delivery</a:t>
            </a:r>
            <a:endParaRPr lang="en-US" sz="1400" dirty="0"/>
          </a:p>
        </p:txBody>
      </p:sp>
      <p:sp>
        <p:nvSpPr>
          <p:cNvPr id="8" name="Shape 5"/>
          <p:cNvSpPr/>
          <p:nvPr/>
        </p:nvSpPr>
        <p:spPr>
          <a:xfrm>
            <a:off x="1280160" y="2834640"/>
            <a:ext cx="2286000" cy="45720"/>
          </a:xfrm>
          <a:prstGeom prst="rect">
            <a:avLst/>
          </a:prstGeom>
          <a:solidFill>
            <a:srgbClr val="00A86B"/>
          </a:solidFill>
          <a:ln/>
        </p:spPr>
      </p:sp>
      <p:sp>
        <p:nvSpPr>
          <p:cNvPr id="9" name="Text 6"/>
          <p:cNvSpPr/>
          <p:nvPr/>
        </p:nvSpPr>
        <p:spPr>
          <a:xfrm>
            <a:off x="1280160" y="3108960"/>
            <a:ext cx="6400800" cy="1097280"/>
          </a:xfrm>
          <a:prstGeom prst="rect">
            <a:avLst/>
          </a:prstGeom>
          <a:noFill/>
          <a:ln/>
        </p:spPr>
        <p:txBody>
          <a:bodyPr wrap="square" rtlCol="0" anchor="t"/>
          <a:lstStyle/>
          <a:p>
            <a:pPr indent="0" marL="0">
              <a:buNone/>
            </a:pPr>
            <a:r>
              <a:rPr lang="en-US" sz="1300" dirty="0">
                <a:solidFill>
                  <a:srgbClr val="E2E8F0"/>
                </a:solidFill>
                <a:latin typeface="Arial" pitchFamily="34" charset="0"/>
                <a:ea typeface="Arial" pitchFamily="34" charset="-122"/>
                <a:cs typeface="Arial" pitchFamily="34" charset="-120"/>
              </a:rPr>
              <a:t>Catalog Item: Standard Laptop</a:t>
            </a:r>
            <a:endParaRPr lang="en-US" sz="1300" dirty="0"/>
          </a:p>
          <a:p>
            <a:pPr indent="0" marL="0">
              <a:buNone/>
            </a:pPr>
            <a:r>
              <a:rPr lang="en-US" sz="1300" dirty="0">
                <a:solidFill>
                  <a:srgbClr val="E2E8F0"/>
                </a:solidFill>
                <a:latin typeface="Arial" pitchFamily="34" charset="0"/>
                <a:ea typeface="Arial" pitchFamily="34" charset="-122"/>
                <a:cs typeface="Arial" pitchFamily="34" charset="-120"/>
              </a:rPr>
              <a:t>Flow: Standard laptop task  |  Trigger: Service Catalog</a:t>
            </a:r>
            <a:endParaRPr lang="en-US" sz="1300" dirty="0"/>
          </a:p>
          <a:p>
            <a:pPr indent="0" marL="0">
              <a:buNone/>
            </a:pPr>
            <a:r>
              <a:rPr lang="en-US" sz="1300" dirty="0">
                <a:solidFill>
                  <a:srgbClr val="E2E8F0"/>
                </a:solidFill>
                <a:latin typeface="Arial" pitchFamily="34" charset="0"/>
                <a:ea typeface="Arial" pitchFamily="34" charset="-122"/>
                <a:cs typeface="Arial" pitchFamily="34" charset="-120"/>
              </a:rPr>
              <a:t>Action: Create Catalog Task (sc_task)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Project Phases Overview</a:t>
            </a:r>
            <a:endParaRPr lang="en-US" sz="2200" dirty="0"/>
          </a:p>
        </p:txBody>
      </p:sp>
      <p:sp>
        <p:nvSpPr>
          <p:cNvPr id="4" name="Shape 2"/>
          <p:cNvSpPr/>
          <p:nvPr/>
        </p:nvSpPr>
        <p:spPr>
          <a:xfrm>
            <a:off x="365760" y="10058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5" name="Text 3"/>
          <p:cNvSpPr/>
          <p:nvPr/>
        </p:nvSpPr>
        <p:spPr>
          <a:xfrm>
            <a:off x="548640" y="12344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548640" y="16459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Ideation</a:t>
            </a:r>
            <a:endParaRPr lang="en-US" sz="1500" dirty="0"/>
          </a:p>
        </p:txBody>
      </p:sp>
      <p:sp>
        <p:nvSpPr>
          <p:cNvPr id="7" name="Text 5"/>
          <p:cNvSpPr/>
          <p:nvPr/>
        </p:nvSpPr>
        <p:spPr>
          <a:xfrm>
            <a:off x="548640" y="20116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Problem definition &amp; opportunity</a:t>
            </a:r>
            <a:endParaRPr lang="en-US" sz="1200" dirty="0"/>
          </a:p>
        </p:txBody>
      </p:sp>
      <p:sp>
        <p:nvSpPr>
          <p:cNvPr id="8" name="Shape 6"/>
          <p:cNvSpPr/>
          <p:nvPr/>
        </p:nvSpPr>
        <p:spPr>
          <a:xfrm>
            <a:off x="3246120" y="10058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9" name="Text 7"/>
          <p:cNvSpPr/>
          <p:nvPr/>
        </p:nvSpPr>
        <p:spPr>
          <a:xfrm>
            <a:off x="3429000" y="12344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02</a:t>
            </a:r>
            <a:endParaRPr lang="en-US" sz="2000" dirty="0"/>
          </a:p>
        </p:txBody>
      </p:sp>
      <p:sp>
        <p:nvSpPr>
          <p:cNvPr id="10" name="Text 8"/>
          <p:cNvSpPr/>
          <p:nvPr/>
        </p:nvSpPr>
        <p:spPr>
          <a:xfrm>
            <a:off x="3429000" y="16459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Requirement Analysis</a:t>
            </a:r>
            <a:endParaRPr lang="en-US" sz="1500" dirty="0"/>
          </a:p>
        </p:txBody>
      </p:sp>
      <p:sp>
        <p:nvSpPr>
          <p:cNvPr id="11" name="Text 9"/>
          <p:cNvSpPr/>
          <p:nvPr/>
        </p:nvSpPr>
        <p:spPr>
          <a:xfrm>
            <a:off x="3429000" y="20116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Functional &amp; non-functional needs</a:t>
            </a:r>
            <a:endParaRPr lang="en-US" sz="1200" dirty="0"/>
          </a:p>
        </p:txBody>
      </p:sp>
      <p:sp>
        <p:nvSpPr>
          <p:cNvPr id="12" name="Shape 10"/>
          <p:cNvSpPr/>
          <p:nvPr/>
        </p:nvSpPr>
        <p:spPr>
          <a:xfrm>
            <a:off x="6126480" y="10058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13" name="Text 11"/>
          <p:cNvSpPr/>
          <p:nvPr/>
        </p:nvSpPr>
        <p:spPr>
          <a:xfrm>
            <a:off x="6309360" y="12344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03</a:t>
            </a:r>
            <a:endParaRPr lang="en-US" sz="2000" dirty="0"/>
          </a:p>
        </p:txBody>
      </p:sp>
      <p:sp>
        <p:nvSpPr>
          <p:cNvPr id="14" name="Text 12"/>
          <p:cNvSpPr/>
          <p:nvPr/>
        </p:nvSpPr>
        <p:spPr>
          <a:xfrm>
            <a:off x="6309360" y="16459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Project Design</a:t>
            </a:r>
            <a:endParaRPr lang="en-US" sz="1500" dirty="0"/>
          </a:p>
        </p:txBody>
      </p:sp>
      <p:sp>
        <p:nvSpPr>
          <p:cNvPr id="15" name="Text 13"/>
          <p:cNvSpPr/>
          <p:nvPr/>
        </p:nvSpPr>
        <p:spPr>
          <a:xfrm>
            <a:off x="6309360" y="20116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Flow Designer architecture</a:t>
            </a:r>
            <a:endParaRPr lang="en-US" sz="1200" dirty="0"/>
          </a:p>
        </p:txBody>
      </p:sp>
      <p:sp>
        <p:nvSpPr>
          <p:cNvPr id="16" name="Shape 14"/>
          <p:cNvSpPr/>
          <p:nvPr/>
        </p:nvSpPr>
        <p:spPr>
          <a:xfrm>
            <a:off x="365760" y="28346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17" name="Text 15"/>
          <p:cNvSpPr/>
          <p:nvPr/>
        </p:nvSpPr>
        <p:spPr>
          <a:xfrm>
            <a:off x="548640" y="30632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04</a:t>
            </a:r>
            <a:endParaRPr lang="en-US" sz="2000" dirty="0"/>
          </a:p>
        </p:txBody>
      </p:sp>
      <p:sp>
        <p:nvSpPr>
          <p:cNvPr id="18" name="Text 16"/>
          <p:cNvSpPr/>
          <p:nvPr/>
        </p:nvSpPr>
        <p:spPr>
          <a:xfrm>
            <a:off x="548640" y="34747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Project Planning</a:t>
            </a:r>
            <a:endParaRPr lang="en-US" sz="1500" dirty="0"/>
          </a:p>
        </p:txBody>
      </p:sp>
      <p:sp>
        <p:nvSpPr>
          <p:cNvPr id="19" name="Text 17"/>
          <p:cNvSpPr/>
          <p:nvPr/>
        </p:nvSpPr>
        <p:spPr>
          <a:xfrm>
            <a:off x="548640" y="38404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Timeline, roles &amp; milestones</a:t>
            </a:r>
            <a:endParaRPr lang="en-US" sz="1200" dirty="0"/>
          </a:p>
        </p:txBody>
      </p:sp>
      <p:sp>
        <p:nvSpPr>
          <p:cNvPr id="20" name="Shape 18"/>
          <p:cNvSpPr/>
          <p:nvPr/>
        </p:nvSpPr>
        <p:spPr>
          <a:xfrm>
            <a:off x="3246120" y="28346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21" name="Text 19"/>
          <p:cNvSpPr/>
          <p:nvPr/>
        </p:nvSpPr>
        <p:spPr>
          <a:xfrm>
            <a:off x="3429000" y="30632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05</a:t>
            </a:r>
            <a:endParaRPr lang="en-US" sz="2000" dirty="0"/>
          </a:p>
        </p:txBody>
      </p:sp>
      <p:sp>
        <p:nvSpPr>
          <p:cNvPr id="22" name="Text 20"/>
          <p:cNvSpPr/>
          <p:nvPr/>
        </p:nvSpPr>
        <p:spPr>
          <a:xfrm>
            <a:off x="3429000" y="34747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Development</a:t>
            </a:r>
            <a:endParaRPr lang="en-US" sz="1500" dirty="0"/>
          </a:p>
        </p:txBody>
      </p:sp>
      <p:sp>
        <p:nvSpPr>
          <p:cNvPr id="23" name="Text 21"/>
          <p:cNvSpPr/>
          <p:nvPr/>
        </p:nvSpPr>
        <p:spPr>
          <a:xfrm>
            <a:off x="3429000" y="38404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Build, configure &amp; test flow</a:t>
            </a:r>
            <a:endParaRPr lang="en-US" sz="1200" dirty="0"/>
          </a:p>
        </p:txBody>
      </p:sp>
      <p:sp>
        <p:nvSpPr>
          <p:cNvPr id="24" name="Shape 22"/>
          <p:cNvSpPr/>
          <p:nvPr/>
        </p:nvSpPr>
        <p:spPr>
          <a:xfrm>
            <a:off x="6126480" y="2834640"/>
            <a:ext cx="2743200" cy="1554480"/>
          </a:xfrm>
          <a:prstGeom prst="roundRect">
            <a:avLst>
              <a:gd name="adj" fmla="val 5882"/>
            </a:avLst>
          </a:prstGeom>
          <a:solidFill>
            <a:srgbClr val="F8FAFC"/>
          </a:solidFill>
          <a:ln/>
          <a:effectLst>
            <a:outerShdw sx="100000" sy="100000" kx="0" ky="0" algn="bl" rotWithShape="0" blurRad="76200" dist="25400" dir="16200000">
              <a:srgbClr val="000000">
                <a:alpha val="8000"/>
              </a:srgbClr>
            </a:outerShdw>
          </a:effectLst>
        </p:spPr>
      </p:sp>
      <p:sp>
        <p:nvSpPr>
          <p:cNvPr id="25" name="Text 23"/>
          <p:cNvSpPr/>
          <p:nvPr/>
        </p:nvSpPr>
        <p:spPr>
          <a:xfrm>
            <a:off x="6309360" y="3063240"/>
            <a:ext cx="640080" cy="365760"/>
          </a:xfrm>
          <a:prstGeom prst="rect">
            <a:avLst/>
          </a:prstGeom>
          <a:noFill/>
          <a:ln/>
        </p:spPr>
        <p:txBody>
          <a:bodyPr wrap="square" rtlCol="0" anchor="ctr"/>
          <a:lstStyle/>
          <a:p>
            <a:pPr indent="0" marL="0">
              <a:buNone/>
            </a:pPr>
            <a:r>
              <a:rPr lang="en-US" sz="2000" b="1" dirty="0">
                <a:solidFill>
                  <a:srgbClr val="00A86B"/>
                </a:solidFill>
                <a:latin typeface="Arial" pitchFamily="34" charset="0"/>
                <a:ea typeface="Arial" pitchFamily="34" charset="-122"/>
                <a:cs typeface="Arial" pitchFamily="34" charset="-120"/>
              </a:rPr>
              <a:t>06</a:t>
            </a:r>
            <a:endParaRPr lang="en-US" sz="2000" dirty="0"/>
          </a:p>
        </p:txBody>
      </p:sp>
      <p:sp>
        <p:nvSpPr>
          <p:cNvPr id="26" name="Text 24"/>
          <p:cNvSpPr/>
          <p:nvPr/>
        </p:nvSpPr>
        <p:spPr>
          <a:xfrm>
            <a:off x="6309360" y="3474720"/>
            <a:ext cx="2377440" cy="32004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Documentation</a:t>
            </a:r>
            <a:endParaRPr lang="en-US" sz="1500" dirty="0"/>
          </a:p>
        </p:txBody>
      </p:sp>
      <p:sp>
        <p:nvSpPr>
          <p:cNvPr id="27" name="Text 25"/>
          <p:cNvSpPr/>
          <p:nvPr/>
        </p:nvSpPr>
        <p:spPr>
          <a:xfrm>
            <a:off x="6309360" y="3840480"/>
            <a:ext cx="237744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Handover &amp; knowledge base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 Ideation Phase</a:t>
            </a:r>
            <a:endParaRPr lang="en-US" sz="2200" dirty="0"/>
          </a:p>
        </p:txBody>
      </p:sp>
      <p:pic>
        <p:nvPicPr>
          <p:cNvPr id="4" name="Image 0" descr="preencoded.png">    </p:cNvPr>
          <p:cNvPicPr>
            <a:picLocks noChangeAspect="1"/>
          </p:cNvPicPr>
          <p:nvPr/>
        </p:nvPicPr>
        <p:blipFill>
          <a:blip r:embed="rId1"/>
          <a:stretch>
            <a:fillRect/>
          </a:stretch>
        </p:blipFill>
        <p:spPr>
          <a:xfrm>
            <a:off x="457200" y="914400"/>
            <a:ext cx="411480" cy="411480"/>
          </a:xfrm>
          <a:prstGeom prst="rect">
            <a:avLst/>
          </a:prstGeom>
        </p:spPr>
      </p:pic>
      <p:sp>
        <p:nvSpPr>
          <p:cNvPr id="5" name="Text 2"/>
          <p:cNvSpPr/>
          <p:nvPr/>
        </p:nvSpPr>
        <p:spPr>
          <a:xfrm>
            <a:off x="1005840" y="960120"/>
            <a:ext cx="7315200" cy="320040"/>
          </a:xfrm>
          <a:prstGeom prst="rect">
            <a:avLst/>
          </a:prstGeom>
          <a:noFill/>
          <a:ln/>
        </p:spPr>
        <p:txBody>
          <a:bodyPr wrap="square" rtlCol="0" anchor="ctr"/>
          <a:lstStyle/>
          <a:p>
            <a:pPr indent="0" marL="0">
              <a:buNone/>
            </a:pPr>
            <a:r>
              <a:rPr lang="en-US" sz="1600" b="1" dirty="0">
                <a:solidFill>
                  <a:srgbClr val="1E293B"/>
                </a:solidFill>
                <a:latin typeface="Arial" pitchFamily="34" charset="0"/>
                <a:ea typeface="Arial" pitchFamily="34" charset="-122"/>
                <a:cs typeface="Arial" pitchFamily="34" charset="-120"/>
              </a:rPr>
              <a:t>Problem Statement</a:t>
            </a:r>
            <a:endParaRPr lang="en-US" sz="1600" dirty="0"/>
          </a:p>
        </p:txBody>
      </p:sp>
      <p:sp>
        <p:nvSpPr>
          <p:cNvPr id="6" name="Text 3"/>
          <p:cNvSpPr/>
          <p:nvPr/>
        </p:nvSpPr>
        <p:spPr>
          <a:xfrm>
            <a:off x="457200" y="1371600"/>
            <a:ext cx="8229600" cy="64008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Manual processing of standard laptop requests creates delays, inconsistent task assignment, and poor visibility for IT fulfillment teams. Each request requires manual creation of catalog tasks, leading to errors and longer cycle times.</a:t>
            </a:r>
            <a:endParaRPr lang="en-US" sz="1300" dirty="0"/>
          </a:p>
        </p:txBody>
      </p:sp>
      <p:sp>
        <p:nvSpPr>
          <p:cNvPr id="7" name="Shape 4"/>
          <p:cNvSpPr/>
          <p:nvPr/>
        </p:nvSpPr>
        <p:spPr>
          <a:xfrm>
            <a:off x="457200" y="2194560"/>
            <a:ext cx="8229600" cy="777240"/>
          </a:xfrm>
          <a:prstGeom prst="roundRect">
            <a:avLst>
              <a:gd name="adj" fmla="val 9412"/>
            </a:avLst>
          </a:prstGeom>
          <a:solidFill>
            <a:srgbClr val="F8FAFC"/>
          </a:solidFill>
          <a:ln/>
        </p:spPr>
      </p:sp>
      <p:sp>
        <p:nvSpPr>
          <p:cNvPr id="8" name="Shape 5"/>
          <p:cNvSpPr/>
          <p:nvPr/>
        </p:nvSpPr>
        <p:spPr>
          <a:xfrm>
            <a:off x="457200" y="2194560"/>
            <a:ext cx="109728" cy="777240"/>
          </a:xfrm>
          <a:prstGeom prst="rect">
            <a:avLst/>
          </a:prstGeom>
          <a:solidFill>
            <a:srgbClr val="00A86B"/>
          </a:solidFill>
          <a:ln/>
        </p:spPr>
      </p:sp>
      <p:sp>
        <p:nvSpPr>
          <p:cNvPr id="9" name="Text 6"/>
          <p:cNvSpPr/>
          <p:nvPr/>
        </p:nvSpPr>
        <p:spPr>
          <a:xfrm>
            <a:off x="777240" y="2286000"/>
            <a:ext cx="768096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Business Opportunity</a:t>
            </a:r>
            <a:endParaRPr lang="en-US" sz="1300" dirty="0"/>
          </a:p>
        </p:txBody>
      </p:sp>
      <p:sp>
        <p:nvSpPr>
          <p:cNvPr id="10" name="Text 7"/>
          <p:cNvSpPr/>
          <p:nvPr/>
        </p:nvSpPr>
        <p:spPr>
          <a:xfrm>
            <a:off x="777240" y="2560320"/>
            <a:ext cx="768096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Reduce fulfillment cycle time for standard laptop requests by automating catalog task creation and assignment to the Hardware group.</a:t>
            </a:r>
            <a:endParaRPr lang="en-US" sz="1200" dirty="0"/>
          </a:p>
        </p:txBody>
      </p:sp>
      <p:sp>
        <p:nvSpPr>
          <p:cNvPr id="11" name="Shape 8"/>
          <p:cNvSpPr/>
          <p:nvPr/>
        </p:nvSpPr>
        <p:spPr>
          <a:xfrm>
            <a:off x="457200" y="3063240"/>
            <a:ext cx="8229600" cy="777240"/>
          </a:xfrm>
          <a:prstGeom prst="roundRect">
            <a:avLst>
              <a:gd name="adj" fmla="val 9412"/>
            </a:avLst>
          </a:prstGeom>
          <a:solidFill>
            <a:srgbClr val="F8FAFC"/>
          </a:solidFill>
          <a:ln/>
        </p:spPr>
      </p:sp>
      <p:sp>
        <p:nvSpPr>
          <p:cNvPr id="12" name="Shape 9"/>
          <p:cNvSpPr/>
          <p:nvPr/>
        </p:nvSpPr>
        <p:spPr>
          <a:xfrm>
            <a:off x="457200" y="3063240"/>
            <a:ext cx="109728" cy="777240"/>
          </a:xfrm>
          <a:prstGeom prst="rect">
            <a:avLst/>
          </a:prstGeom>
          <a:solidFill>
            <a:srgbClr val="00A86B"/>
          </a:solidFill>
          <a:ln/>
        </p:spPr>
      </p:sp>
      <p:sp>
        <p:nvSpPr>
          <p:cNvPr id="13" name="Text 10"/>
          <p:cNvSpPr/>
          <p:nvPr/>
        </p:nvSpPr>
        <p:spPr>
          <a:xfrm>
            <a:off x="777240" y="3154680"/>
            <a:ext cx="768096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Technical Opportunity</a:t>
            </a:r>
            <a:endParaRPr lang="en-US" sz="1300" dirty="0"/>
          </a:p>
        </p:txBody>
      </p:sp>
      <p:sp>
        <p:nvSpPr>
          <p:cNvPr id="14" name="Text 11"/>
          <p:cNvSpPr/>
          <p:nvPr/>
        </p:nvSpPr>
        <p:spPr>
          <a:xfrm>
            <a:off x="777240" y="3429000"/>
            <a:ext cx="768096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Leverage Flow Designer + Service Catalog trigger to create sc_task records with correct short description, description, and Requested Item linkage.</a:t>
            </a:r>
            <a:endParaRPr lang="en-US" sz="1200" dirty="0"/>
          </a:p>
        </p:txBody>
      </p:sp>
      <p:sp>
        <p:nvSpPr>
          <p:cNvPr id="15" name="Shape 12"/>
          <p:cNvSpPr/>
          <p:nvPr/>
        </p:nvSpPr>
        <p:spPr>
          <a:xfrm>
            <a:off x="457200" y="3931920"/>
            <a:ext cx="8229600" cy="777240"/>
          </a:xfrm>
          <a:prstGeom prst="roundRect">
            <a:avLst>
              <a:gd name="adj" fmla="val 9412"/>
            </a:avLst>
          </a:prstGeom>
          <a:solidFill>
            <a:srgbClr val="F8FAFC"/>
          </a:solidFill>
          <a:ln/>
        </p:spPr>
      </p:sp>
      <p:sp>
        <p:nvSpPr>
          <p:cNvPr id="16" name="Shape 13"/>
          <p:cNvSpPr/>
          <p:nvPr/>
        </p:nvSpPr>
        <p:spPr>
          <a:xfrm>
            <a:off x="457200" y="3931920"/>
            <a:ext cx="109728" cy="777240"/>
          </a:xfrm>
          <a:prstGeom prst="rect">
            <a:avLst/>
          </a:prstGeom>
          <a:solidFill>
            <a:srgbClr val="00A86B"/>
          </a:solidFill>
          <a:ln/>
        </p:spPr>
      </p:sp>
      <p:sp>
        <p:nvSpPr>
          <p:cNvPr id="17" name="Text 14"/>
          <p:cNvSpPr/>
          <p:nvPr/>
        </p:nvSpPr>
        <p:spPr>
          <a:xfrm>
            <a:off x="777240" y="4023360"/>
            <a:ext cx="768096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User Impact</a:t>
            </a:r>
            <a:endParaRPr lang="en-US" sz="1300" dirty="0"/>
          </a:p>
        </p:txBody>
      </p:sp>
      <p:sp>
        <p:nvSpPr>
          <p:cNvPr id="18" name="Text 15"/>
          <p:cNvSpPr/>
          <p:nvPr/>
        </p:nvSpPr>
        <p:spPr>
          <a:xfrm>
            <a:off x="777240" y="4297680"/>
            <a:ext cx="768096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Requestors receive faster processing; Hardware team gets ready-to-work tasks with consistent data and clear ownership.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Requirement Analysis</a:t>
            </a:r>
            <a:endParaRPr lang="en-US" sz="2200" dirty="0"/>
          </a:p>
        </p:txBody>
      </p:sp>
      <p:sp>
        <p:nvSpPr>
          <p:cNvPr id="4" name="Shape 2"/>
          <p:cNvSpPr/>
          <p:nvPr/>
        </p:nvSpPr>
        <p:spPr>
          <a:xfrm>
            <a:off x="365760" y="914400"/>
            <a:ext cx="4114800" cy="3840480"/>
          </a:xfrm>
          <a:prstGeom prst="roundRect">
            <a:avLst>
              <a:gd name="adj" fmla="val 2381"/>
            </a:avLst>
          </a:prstGeom>
          <a:solidFill>
            <a:srgbClr val="F8FAFC"/>
          </a:solidFill>
          <a:ln/>
        </p:spPr>
      </p:sp>
      <p:sp>
        <p:nvSpPr>
          <p:cNvPr id="5" name="Text 3"/>
          <p:cNvSpPr/>
          <p:nvPr/>
        </p:nvSpPr>
        <p:spPr>
          <a:xfrm>
            <a:off x="548640" y="1051560"/>
            <a:ext cx="374904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Functional Requirements</a:t>
            </a:r>
            <a:endParaRPr lang="en-US" sz="1400" dirty="0"/>
          </a:p>
        </p:txBody>
      </p:sp>
      <p:sp>
        <p:nvSpPr>
          <p:cNvPr id="6" name="Text 4"/>
          <p:cNvSpPr/>
          <p:nvPr/>
        </p:nvSpPr>
        <p:spPr>
          <a:xfrm>
            <a:off x="594360" y="146304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Trigger on Service Catalog item submission (Standard Laptop)</a:t>
            </a:r>
            <a:endParaRPr lang="en-US" sz="1200" dirty="0"/>
          </a:p>
        </p:txBody>
      </p:sp>
      <p:sp>
        <p:nvSpPr>
          <p:cNvPr id="7" name="Text 5"/>
          <p:cNvSpPr/>
          <p:nvPr/>
        </p:nvSpPr>
        <p:spPr>
          <a:xfrm>
            <a:off x="594360" y="187452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Create Catalog Task (sc_task) linked to the Requested Item (RITM)</a:t>
            </a:r>
            <a:endParaRPr lang="en-US" sz="1200" dirty="0"/>
          </a:p>
        </p:txBody>
      </p:sp>
      <p:sp>
        <p:nvSpPr>
          <p:cNvPr id="8" name="Text 6"/>
          <p:cNvSpPr/>
          <p:nvPr/>
        </p:nvSpPr>
        <p:spPr>
          <a:xfrm>
            <a:off x="594360" y="228600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Populate Short Description: 'Laptop need to Configured'</a:t>
            </a:r>
            <a:endParaRPr lang="en-US" sz="1200" dirty="0"/>
          </a:p>
        </p:txBody>
      </p:sp>
      <p:sp>
        <p:nvSpPr>
          <p:cNvPr id="9" name="Text 7"/>
          <p:cNvSpPr/>
          <p:nvPr/>
        </p:nvSpPr>
        <p:spPr>
          <a:xfrm>
            <a:off x="594360" y="269748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Populate Description with same value</a:t>
            </a:r>
            <a:endParaRPr lang="en-US" sz="1200" dirty="0"/>
          </a:p>
        </p:txBody>
      </p:sp>
      <p:sp>
        <p:nvSpPr>
          <p:cNvPr id="10" name="Text 8"/>
          <p:cNvSpPr/>
          <p:nvPr/>
        </p:nvSpPr>
        <p:spPr>
          <a:xfrm>
            <a:off x="594360" y="310896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Set Assignment Group = Hardware</a:t>
            </a:r>
            <a:endParaRPr lang="en-US" sz="1200" dirty="0"/>
          </a:p>
        </p:txBody>
      </p:sp>
      <p:sp>
        <p:nvSpPr>
          <p:cNvPr id="11" name="Text 9"/>
          <p:cNvSpPr/>
          <p:nvPr/>
        </p:nvSpPr>
        <p:spPr>
          <a:xfrm>
            <a:off x="594360" y="352044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Keep State = Open and Active = true</a:t>
            </a:r>
            <a:endParaRPr lang="en-US" sz="1200" dirty="0"/>
          </a:p>
        </p:txBody>
      </p:sp>
      <p:sp>
        <p:nvSpPr>
          <p:cNvPr id="12" name="Text 10"/>
          <p:cNvSpPr/>
          <p:nvPr/>
        </p:nvSpPr>
        <p:spPr>
          <a:xfrm>
            <a:off x="594360" y="393192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Support optional software variables (Adobe Acrobat / Photoshop)</a:t>
            </a:r>
            <a:endParaRPr lang="en-US" sz="1200" dirty="0"/>
          </a:p>
        </p:txBody>
      </p:sp>
      <p:sp>
        <p:nvSpPr>
          <p:cNvPr id="13" name="Shape 11"/>
          <p:cNvSpPr/>
          <p:nvPr/>
        </p:nvSpPr>
        <p:spPr>
          <a:xfrm>
            <a:off x="4663440" y="914400"/>
            <a:ext cx="4114800" cy="3840480"/>
          </a:xfrm>
          <a:prstGeom prst="roundRect">
            <a:avLst>
              <a:gd name="adj" fmla="val 2381"/>
            </a:avLst>
          </a:prstGeom>
          <a:solidFill>
            <a:srgbClr val="F8FAFC"/>
          </a:solidFill>
          <a:ln/>
        </p:spPr>
      </p:sp>
      <p:sp>
        <p:nvSpPr>
          <p:cNvPr id="14" name="Text 12"/>
          <p:cNvSpPr/>
          <p:nvPr/>
        </p:nvSpPr>
        <p:spPr>
          <a:xfrm>
            <a:off x="4846320" y="1051560"/>
            <a:ext cx="374904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Non-Functional Requirements</a:t>
            </a:r>
            <a:endParaRPr lang="en-US" sz="1400" dirty="0"/>
          </a:p>
        </p:txBody>
      </p:sp>
      <p:sp>
        <p:nvSpPr>
          <p:cNvPr id="15" name="Text 13"/>
          <p:cNvSpPr/>
          <p:nvPr/>
        </p:nvSpPr>
        <p:spPr>
          <a:xfrm>
            <a:off x="4892040" y="146304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Flow must run in background (non-blocking)</a:t>
            </a:r>
            <a:endParaRPr lang="en-US" sz="1200" dirty="0"/>
          </a:p>
        </p:txBody>
      </p:sp>
      <p:sp>
        <p:nvSpPr>
          <p:cNvPr id="16" name="Text 14"/>
          <p:cNvSpPr/>
          <p:nvPr/>
        </p:nvSpPr>
        <p:spPr>
          <a:xfrm>
            <a:off x="4892040" y="187452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Execution under system context for reliability</a:t>
            </a:r>
            <a:endParaRPr lang="en-US" sz="1200" dirty="0"/>
          </a:p>
        </p:txBody>
      </p:sp>
      <p:sp>
        <p:nvSpPr>
          <p:cNvPr id="17" name="Text 15"/>
          <p:cNvSpPr/>
          <p:nvPr/>
        </p:nvSpPr>
        <p:spPr>
          <a:xfrm>
            <a:off x="4892040" y="228600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Audit trail via Activities &amp; Field changes</a:t>
            </a:r>
            <a:endParaRPr lang="en-US" sz="1200" dirty="0"/>
          </a:p>
        </p:txBody>
      </p:sp>
      <p:sp>
        <p:nvSpPr>
          <p:cNvPr id="18" name="Text 16"/>
          <p:cNvSpPr/>
          <p:nvPr/>
        </p:nvSpPr>
        <p:spPr>
          <a:xfrm>
            <a:off x="4892040" y="269748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Compatible with existing RITM approval stage</a:t>
            </a:r>
            <a:endParaRPr lang="en-US" sz="1200" dirty="0"/>
          </a:p>
        </p:txBody>
      </p:sp>
      <p:sp>
        <p:nvSpPr>
          <p:cNvPr id="19" name="Text 17"/>
          <p:cNvSpPr/>
          <p:nvPr/>
        </p:nvSpPr>
        <p:spPr>
          <a:xfrm>
            <a:off x="4892040" y="310896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Minimal latency (&lt; 5s after RITM creation)</a:t>
            </a:r>
            <a:endParaRPr lang="en-US" sz="1200" dirty="0"/>
          </a:p>
        </p:txBody>
      </p:sp>
      <p:sp>
        <p:nvSpPr>
          <p:cNvPr id="20" name="Text 18"/>
          <p:cNvSpPr/>
          <p:nvPr/>
        </p:nvSpPr>
        <p:spPr>
          <a:xfrm>
            <a:off x="4892040" y="352044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Error handling with clear flow context</a:t>
            </a:r>
            <a:endParaRPr lang="en-US" sz="1200" dirty="0"/>
          </a:p>
        </p:txBody>
      </p:sp>
      <p:sp>
        <p:nvSpPr>
          <p:cNvPr id="21" name="Text 19"/>
          <p:cNvSpPr/>
          <p:nvPr/>
        </p:nvSpPr>
        <p:spPr>
          <a:xfrm>
            <a:off x="4892040" y="3931920"/>
            <a:ext cx="3657600" cy="36576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Reusable pattern for similar catalog items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3. Project Design – Flow Architecture</a:t>
            </a:r>
            <a:endParaRPr lang="en-US" sz="2200" dirty="0"/>
          </a:p>
        </p:txBody>
      </p:sp>
      <p:sp>
        <p:nvSpPr>
          <p:cNvPr id="4" name="Shape 2"/>
          <p:cNvSpPr/>
          <p:nvPr/>
        </p:nvSpPr>
        <p:spPr>
          <a:xfrm>
            <a:off x="457200" y="1005840"/>
            <a:ext cx="2697480" cy="2377440"/>
          </a:xfrm>
          <a:prstGeom prst="roundRect">
            <a:avLst>
              <a:gd name="adj" fmla="val 3846"/>
            </a:avLst>
          </a:prstGeom>
          <a:solidFill>
            <a:srgbClr val="F8FAFC"/>
          </a:solidFill>
          <a:ln/>
        </p:spPr>
      </p:sp>
      <p:sp>
        <p:nvSpPr>
          <p:cNvPr id="5" name="Shape 3"/>
          <p:cNvSpPr/>
          <p:nvPr/>
        </p:nvSpPr>
        <p:spPr>
          <a:xfrm>
            <a:off x="457200" y="1005840"/>
            <a:ext cx="2697480" cy="411480"/>
          </a:xfrm>
          <a:prstGeom prst="rect">
            <a:avLst/>
          </a:prstGeom>
          <a:solidFill>
            <a:srgbClr val="1A2744"/>
          </a:solidFill>
          <a:ln/>
        </p:spPr>
      </p:sp>
      <p:sp>
        <p:nvSpPr>
          <p:cNvPr id="6" name="Text 4"/>
          <p:cNvSpPr/>
          <p:nvPr/>
        </p:nvSpPr>
        <p:spPr>
          <a:xfrm>
            <a:off x="457200" y="1078992"/>
            <a:ext cx="269748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TRIGGER</a:t>
            </a:r>
            <a:endParaRPr lang="en-US" sz="1300" dirty="0"/>
          </a:p>
        </p:txBody>
      </p:sp>
      <p:sp>
        <p:nvSpPr>
          <p:cNvPr id="7" name="Text 5"/>
          <p:cNvSpPr/>
          <p:nvPr/>
        </p:nvSpPr>
        <p:spPr>
          <a:xfrm>
            <a:off x="594360" y="1554480"/>
            <a:ext cx="2423160" cy="320040"/>
          </a:xfrm>
          <a:prstGeom prst="rect">
            <a:avLst/>
          </a:prstGeom>
          <a:noFill/>
          <a:ln/>
        </p:spPr>
        <p:txBody>
          <a:bodyPr wrap="square" rtlCol="0" anchor="ctr"/>
          <a:lstStyle/>
          <a:p>
            <a:pPr algn="ctr" indent="0" marL="0">
              <a:buNone/>
            </a:pPr>
            <a:r>
              <a:rPr lang="en-US" sz="1400" b="1" dirty="0">
                <a:solidFill>
                  <a:srgbClr val="1E293B"/>
                </a:solidFill>
                <a:latin typeface="Arial" pitchFamily="34" charset="0"/>
                <a:ea typeface="Arial" pitchFamily="34" charset="-122"/>
                <a:cs typeface="Arial" pitchFamily="34" charset="-120"/>
              </a:rPr>
              <a:t>Service Catalog</a:t>
            </a:r>
            <a:endParaRPr lang="en-US" sz="1400" dirty="0"/>
          </a:p>
        </p:txBody>
      </p:sp>
      <p:sp>
        <p:nvSpPr>
          <p:cNvPr id="8" name="Text 6"/>
          <p:cNvSpPr/>
          <p:nvPr/>
        </p:nvSpPr>
        <p:spPr>
          <a:xfrm>
            <a:off x="594360" y="2011680"/>
            <a:ext cx="2423160" cy="109728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Standard Laptop item submitted</a:t>
            </a:r>
            <a:endParaRPr lang="en-US" sz="1200" dirty="0"/>
          </a:p>
        </p:txBody>
      </p:sp>
      <p:pic>
        <p:nvPicPr>
          <p:cNvPr id="9" name="Image 0" descr="preencoded.png">    </p:cNvPr>
          <p:cNvPicPr>
            <a:picLocks noChangeAspect="1"/>
          </p:cNvPicPr>
          <p:nvPr/>
        </p:nvPicPr>
        <p:blipFill>
          <a:blip r:embed="rId1"/>
          <a:stretch>
            <a:fillRect/>
          </a:stretch>
        </p:blipFill>
        <p:spPr>
          <a:xfrm>
            <a:off x="3154680" y="2011680"/>
            <a:ext cx="228600" cy="228600"/>
          </a:xfrm>
          <a:prstGeom prst="rect">
            <a:avLst/>
          </a:prstGeom>
        </p:spPr>
      </p:pic>
      <p:sp>
        <p:nvSpPr>
          <p:cNvPr id="10" name="Shape 7"/>
          <p:cNvSpPr/>
          <p:nvPr/>
        </p:nvSpPr>
        <p:spPr>
          <a:xfrm>
            <a:off x="3337560" y="1005840"/>
            <a:ext cx="2697480" cy="2377440"/>
          </a:xfrm>
          <a:prstGeom prst="roundRect">
            <a:avLst>
              <a:gd name="adj" fmla="val 3846"/>
            </a:avLst>
          </a:prstGeom>
          <a:solidFill>
            <a:srgbClr val="F8FAFC"/>
          </a:solidFill>
          <a:ln/>
        </p:spPr>
      </p:sp>
      <p:sp>
        <p:nvSpPr>
          <p:cNvPr id="11" name="Shape 8"/>
          <p:cNvSpPr/>
          <p:nvPr/>
        </p:nvSpPr>
        <p:spPr>
          <a:xfrm>
            <a:off x="3337560" y="1005840"/>
            <a:ext cx="2697480" cy="411480"/>
          </a:xfrm>
          <a:prstGeom prst="rect">
            <a:avLst/>
          </a:prstGeom>
          <a:solidFill>
            <a:srgbClr val="00A86B"/>
          </a:solidFill>
          <a:ln/>
        </p:spPr>
      </p:sp>
      <p:sp>
        <p:nvSpPr>
          <p:cNvPr id="12" name="Text 9"/>
          <p:cNvSpPr/>
          <p:nvPr/>
        </p:nvSpPr>
        <p:spPr>
          <a:xfrm>
            <a:off x="3337560" y="1078992"/>
            <a:ext cx="269748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ACTION 1</a:t>
            </a:r>
            <a:endParaRPr lang="en-US" sz="1300" dirty="0"/>
          </a:p>
        </p:txBody>
      </p:sp>
      <p:sp>
        <p:nvSpPr>
          <p:cNvPr id="13" name="Text 10"/>
          <p:cNvSpPr/>
          <p:nvPr/>
        </p:nvSpPr>
        <p:spPr>
          <a:xfrm>
            <a:off x="3474720" y="1554480"/>
            <a:ext cx="2423160" cy="320040"/>
          </a:xfrm>
          <a:prstGeom prst="rect">
            <a:avLst/>
          </a:prstGeom>
          <a:noFill/>
          <a:ln/>
        </p:spPr>
        <p:txBody>
          <a:bodyPr wrap="square" rtlCol="0" anchor="ctr"/>
          <a:lstStyle/>
          <a:p>
            <a:pPr algn="ctr" indent="0" marL="0">
              <a:buNone/>
            </a:pPr>
            <a:r>
              <a:rPr lang="en-US" sz="1400" b="1" dirty="0">
                <a:solidFill>
                  <a:srgbClr val="1E293B"/>
                </a:solidFill>
                <a:latin typeface="Arial" pitchFamily="34" charset="0"/>
                <a:ea typeface="Arial" pitchFamily="34" charset="-122"/>
                <a:cs typeface="Arial" pitchFamily="34" charset="-120"/>
              </a:rPr>
              <a:t>Create Catalog Task</a:t>
            </a:r>
            <a:endParaRPr lang="en-US" sz="1400" dirty="0"/>
          </a:p>
        </p:txBody>
      </p:sp>
      <p:sp>
        <p:nvSpPr>
          <p:cNvPr id="14" name="Text 11"/>
          <p:cNvSpPr/>
          <p:nvPr/>
        </p:nvSpPr>
        <p:spPr>
          <a:xfrm>
            <a:off x="3474720" y="2011680"/>
            <a:ext cx="2423160" cy="109728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Table: sc_task</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Requested Item = Trigger.RITM</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Short Desc / Description set</a:t>
            </a:r>
            <a:endParaRPr lang="en-US" sz="1200" dirty="0"/>
          </a:p>
        </p:txBody>
      </p:sp>
      <p:pic>
        <p:nvPicPr>
          <p:cNvPr id="15" name="Image 1" descr="preencoded.png">    </p:cNvPr>
          <p:cNvPicPr>
            <a:picLocks noChangeAspect="1"/>
          </p:cNvPicPr>
          <p:nvPr/>
        </p:nvPicPr>
        <p:blipFill>
          <a:blip r:embed="rId2"/>
          <a:stretch>
            <a:fillRect/>
          </a:stretch>
        </p:blipFill>
        <p:spPr>
          <a:xfrm>
            <a:off x="6035040" y="2011680"/>
            <a:ext cx="228600" cy="228600"/>
          </a:xfrm>
          <a:prstGeom prst="rect">
            <a:avLst/>
          </a:prstGeom>
        </p:spPr>
      </p:pic>
      <p:sp>
        <p:nvSpPr>
          <p:cNvPr id="16" name="Shape 12"/>
          <p:cNvSpPr/>
          <p:nvPr/>
        </p:nvSpPr>
        <p:spPr>
          <a:xfrm>
            <a:off x="6217920" y="1005840"/>
            <a:ext cx="2697480" cy="2377440"/>
          </a:xfrm>
          <a:prstGeom prst="roundRect">
            <a:avLst>
              <a:gd name="adj" fmla="val 3846"/>
            </a:avLst>
          </a:prstGeom>
          <a:solidFill>
            <a:srgbClr val="F8FAFC"/>
          </a:solidFill>
          <a:ln/>
        </p:spPr>
      </p:sp>
      <p:sp>
        <p:nvSpPr>
          <p:cNvPr id="17" name="Shape 13"/>
          <p:cNvSpPr/>
          <p:nvPr/>
        </p:nvSpPr>
        <p:spPr>
          <a:xfrm>
            <a:off x="6217920" y="1005840"/>
            <a:ext cx="2697480" cy="411480"/>
          </a:xfrm>
          <a:prstGeom prst="rect">
            <a:avLst/>
          </a:prstGeom>
          <a:solidFill>
            <a:srgbClr val="1A2744"/>
          </a:solidFill>
          <a:ln/>
        </p:spPr>
      </p:sp>
      <p:sp>
        <p:nvSpPr>
          <p:cNvPr id="18" name="Text 14"/>
          <p:cNvSpPr/>
          <p:nvPr/>
        </p:nvSpPr>
        <p:spPr>
          <a:xfrm>
            <a:off x="6217920" y="1078992"/>
            <a:ext cx="269748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OUTPUT</a:t>
            </a:r>
            <a:endParaRPr lang="en-US" sz="1300" dirty="0"/>
          </a:p>
        </p:txBody>
      </p:sp>
      <p:sp>
        <p:nvSpPr>
          <p:cNvPr id="19" name="Text 15"/>
          <p:cNvSpPr/>
          <p:nvPr/>
        </p:nvSpPr>
        <p:spPr>
          <a:xfrm>
            <a:off x="6355080" y="1554480"/>
            <a:ext cx="2423160" cy="320040"/>
          </a:xfrm>
          <a:prstGeom prst="rect">
            <a:avLst/>
          </a:prstGeom>
          <a:noFill/>
          <a:ln/>
        </p:spPr>
        <p:txBody>
          <a:bodyPr wrap="square" rtlCol="0" anchor="ctr"/>
          <a:lstStyle/>
          <a:p>
            <a:pPr algn="ctr" indent="0" marL="0">
              <a:buNone/>
            </a:pPr>
            <a:r>
              <a:rPr lang="en-US" sz="1400" b="1" dirty="0">
                <a:solidFill>
                  <a:srgbClr val="1E293B"/>
                </a:solidFill>
                <a:latin typeface="Arial" pitchFamily="34" charset="0"/>
                <a:ea typeface="Arial" pitchFamily="34" charset="-122"/>
                <a:cs typeface="Arial" pitchFamily="34" charset="-120"/>
              </a:rPr>
              <a:t>Catalog Task Record</a:t>
            </a:r>
            <a:endParaRPr lang="en-US" sz="1400" dirty="0"/>
          </a:p>
        </p:txBody>
      </p:sp>
      <p:sp>
        <p:nvSpPr>
          <p:cNvPr id="20" name="Text 16"/>
          <p:cNvSpPr/>
          <p:nvPr/>
        </p:nvSpPr>
        <p:spPr>
          <a:xfrm>
            <a:off x="6355080" y="2011680"/>
            <a:ext cx="2423160" cy="109728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SCTASK######</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Assignment Group: Hardware</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State: Open</a:t>
            </a:r>
            <a:endParaRPr lang="en-US" sz="1200" dirty="0"/>
          </a:p>
        </p:txBody>
      </p:sp>
      <p:sp>
        <p:nvSpPr>
          <p:cNvPr id="21" name="Text 17"/>
          <p:cNvSpPr/>
          <p:nvPr/>
        </p:nvSpPr>
        <p:spPr>
          <a:xfrm>
            <a:off x="457200" y="3611880"/>
            <a:ext cx="82296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Key Design Decisions</a:t>
            </a:r>
            <a:endParaRPr lang="en-US" sz="1400" dirty="0"/>
          </a:p>
        </p:txBody>
      </p:sp>
      <p:sp>
        <p:nvSpPr>
          <p:cNvPr id="22" name="Text 18"/>
          <p:cNvSpPr/>
          <p:nvPr/>
        </p:nvSpPr>
        <p:spPr>
          <a:xfrm>
            <a:off x="457200" y="3931920"/>
            <a:ext cx="8229600" cy="10058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Flow name: “Standard laptop task”  |  Application: Global  |  Status: Active</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Action: Create Catalog Task  |  Table Name: Catalog Task [sc_task]</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Data pills used: Trigger → Requested Item Record  |  Short Description &amp; Description populated statically</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Related records: RITM0010004 → SCTASK0010002  |  Assignment group set to Hardware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3. Project Design – Data &amp; Field Mapping</a:t>
            </a:r>
            <a:endParaRPr lang="en-US" sz="2200" dirty="0"/>
          </a:p>
        </p:txBody>
      </p:sp>
      <p:sp>
        <p:nvSpPr>
          <p:cNvPr id="4" name="Shape 2"/>
          <p:cNvSpPr/>
          <p:nvPr/>
        </p:nvSpPr>
        <p:spPr>
          <a:xfrm>
            <a:off x="365760" y="914400"/>
            <a:ext cx="8412480" cy="365760"/>
          </a:xfrm>
          <a:prstGeom prst="rect">
            <a:avLst/>
          </a:prstGeom>
          <a:solidFill>
            <a:srgbClr val="1A2744"/>
          </a:solidFill>
          <a:ln/>
        </p:spPr>
      </p:sp>
      <p:sp>
        <p:nvSpPr>
          <p:cNvPr id="5" name="Text 3"/>
          <p:cNvSpPr/>
          <p:nvPr/>
        </p:nvSpPr>
        <p:spPr>
          <a:xfrm>
            <a:off x="457200" y="960120"/>
            <a:ext cx="22860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Field</a:t>
            </a:r>
            <a:endParaRPr lang="en-US" sz="1200" dirty="0"/>
          </a:p>
        </p:txBody>
      </p:sp>
      <p:sp>
        <p:nvSpPr>
          <p:cNvPr id="6" name="Text 4"/>
          <p:cNvSpPr/>
          <p:nvPr/>
        </p:nvSpPr>
        <p:spPr>
          <a:xfrm>
            <a:off x="2926080" y="960120"/>
            <a:ext cx="22860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Source / Value</a:t>
            </a:r>
            <a:endParaRPr lang="en-US" sz="1200" dirty="0"/>
          </a:p>
        </p:txBody>
      </p:sp>
      <p:sp>
        <p:nvSpPr>
          <p:cNvPr id="7" name="Text 5"/>
          <p:cNvSpPr/>
          <p:nvPr/>
        </p:nvSpPr>
        <p:spPr>
          <a:xfrm>
            <a:off x="6400800" y="960120"/>
            <a:ext cx="22860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Target Table</a:t>
            </a:r>
            <a:endParaRPr lang="en-US" sz="1200" dirty="0"/>
          </a:p>
        </p:txBody>
      </p:sp>
      <p:sp>
        <p:nvSpPr>
          <p:cNvPr id="8" name="Shape 6"/>
          <p:cNvSpPr/>
          <p:nvPr/>
        </p:nvSpPr>
        <p:spPr>
          <a:xfrm>
            <a:off x="365760" y="1325880"/>
            <a:ext cx="8412480" cy="411480"/>
          </a:xfrm>
          <a:prstGeom prst="rect">
            <a:avLst/>
          </a:prstGeom>
          <a:solidFill>
            <a:srgbClr val="F8FAFC"/>
          </a:solidFill>
          <a:ln/>
        </p:spPr>
      </p:sp>
      <p:sp>
        <p:nvSpPr>
          <p:cNvPr id="9" name="Text 7"/>
          <p:cNvSpPr/>
          <p:nvPr/>
        </p:nvSpPr>
        <p:spPr>
          <a:xfrm>
            <a:off x="457200" y="139903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Requested Item</a:t>
            </a:r>
            <a:endParaRPr lang="en-US" sz="1200" dirty="0"/>
          </a:p>
        </p:txBody>
      </p:sp>
      <p:sp>
        <p:nvSpPr>
          <p:cNvPr id="10" name="Text 8"/>
          <p:cNvSpPr/>
          <p:nvPr/>
        </p:nvSpPr>
        <p:spPr>
          <a:xfrm>
            <a:off x="2926080" y="139903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Trigger → Requested Item Record</a:t>
            </a:r>
            <a:endParaRPr lang="en-US" sz="1200" dirty="0"/>
          </a:p>
        </p:txBody>
      </p:sp>
      <p:sp>
        <p:nvSpPr>
          <p:cNvPr id="11" name="Text 9"/>
          <p:cNvSpPr/>
          <p:nvPr/>
        </p:nvSpPr>
        <p:spPr>
          <a:xfrm>
            <a:off x="6400800" y="139903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sc_task.request_item</a:t>
            </a:r>
            <a:endParaRPr lang="en-US" sz="1200" dirty="0"/>
          </a:p>
        </p:txBody>
      </p:sp>
      <p:sp>
        <p:nvSpPr>
          <p:cNvPr id="12" name="Shape 10"/>
          <p:cNvSpPr/>
          <p:nvPr/>
        </p:nvSpPr>
        <p:spPr>
          <a:xfrm>
            <a:off x="365760" y="1737360"/>
            <a:ext cx="8412480" cy="411480"/>
          </a:xfrm>
          <a:prstGeom prst="rect">
            <a:avLst/>
          </a:prstGeom>
          <a:solidFill>
            <a:srgbClr val="FFFFFF"/>
          </a:solidFill>
          <a:ln/>
        </p:spPr>
      </p:sp>
      <p:sp>
        <p:nvSpPr>
          <p:cNvPr id="13" name="Text 11"/>
          <p:cNvSpPr/>
          <p:nvPr/>
        </p:nvSpPr>
        <p:spPr>
          <a:xfrm>
            <a:off x="457200" y="181051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Short Description</a:t>
            </a:r>
            <a:endParaRPr lang="en-US" sz="1200" dirty="0"/>
          </a:p>
        </p:txBody>
      </p:sp>
      <p:sp>
        <p:nvSpPr>
          <p:cNvPr id="14" name="Text 12"/>
          <p:cNvSpPr/>
          <p:nvPr/>
        </p:nvSpPr>
        <p:spPr>
          <a:xfrm>
            <a:off x="2926080" y="181051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Static: “Laptop need to Configured”</a:t>
            </a:r>
            <a:endParaRPr lang="en-US" sz="1200" dirty="0"/>
          </a:p>
        </p:txBody>
      </p:sp>
      <p:sp>
        <p:nvSpPr>
          <p:cNvPr id="15" name="Text 13"/>
          <p:cNvSpPr/>
          <p:nvPr/>
        </p:nvSpPr>
        <p:spPr>
          <a:xfrm>
            <a:off x="6400800" y="181051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sc_task.short_description</a:t>
            </a:r>
            <a:endParaRPr lang="en-US" sz="1200" dirty="0"/>
          </a:p>
        </p:txBody>
      </p:sp>
      <p:sp>
        <p:nvSpPr>
          <p:cNvPr id="16" name="Shape 14"/>
          <p:cNvSpPr/>
          <p:nvPr/>
        </p:nvSpPr>
        <p:spPr>
          <a:xfrm>
            <a:off x="365760" y="2148840"/>
            <a:ext cx="8412480" cy="411480"/>
          </a:xfrm>
          <a:prstGeom prst="rect">
            <a:avLst/>
          </a:prstGeom>
          <a:solidFill>
            <a:srgbClr val="F8FAFC"/>
          </a:solidFill>
          <a:ln/>
        </p:spPr>
      </p:sp>
      <p:sp>
        <p:nvSpPr>
          <p:cNvPr id="17" name="Text 15"/>
          <p:cNvSpPr/>
          <p:nvPr/>
        </p:nvSpPr>
        <p:spPr>
          <a:xfrm>
            <a:off x="457200" y="222199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Description</a:t>
            </a:r>
            <a:endParaRPr lang="en-US" sz="1200" dirty="0"/>
          </a:p>
        </p:txBody>
      </p:sp>
      <p:sp>
        <p:nvSpPr>
          <p:cNvPr id="18" name="Text 16"/>
          <p:cNvSpPr/>
          <p:nvPr/>
        </p:nvSpPr>
        <p:spPr>
          <a:xfrm>
            <a:off x="2926080" y="222199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Static: “Laptop need to Configured”</a:t>
            </a:r>
            <a:endParaRPr lang="en-US" sz="1200" dirty="0"/>
          </a:p>
        </p:txBody>
      </p:sp>
      <p:sp>
        <p:nvSpPr>
          <p:cNvPr id="19" name="Text 17"/>
          <p:cNvSpPr/>
          <p:nvPr/>
        </p:nvSpPr>
        <p:spPr>
          <a:xfrm>
            <a:off x="6400800" y="222199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sc_task.description</a:t>
            </a:r>
            <a:endParaRPr lang="en-US" sz="1200" dirty="0"/>
          </a:p>
        </p:txBody>
      </p:sp>
      <p:sp>
        <p:nvSpPr>
          <p:cNvPr id="20" name="Shape 18"/>
          <p:cNvSpPr/>
          <p:nvPr/>
        </p:nvSpPr>
        <p:spPr>
          <a:xfrm>
            <a:off x="365760" y="2560320"/>
            <a:ext cx="8412480" cy="411480"/>
          </a:xfrm>
          <a:prstGeom prst="rect">
            <a:avLst/>
          </a:prstGeom>
          <a:solidFill>
            <a:srgbClr val="FFFFFF"/>
          </a:solidFill>
          <a:ln/>
        </p:spPr>
      </p:sp>
      <p:sp>
        <p:nvSpPr>
          <p:cNvPr id="21" name="Text 19"/>
          <p:cNvSpPr/>
          <p:nvPr/>
        </p:nvSpPr>
        <p:spPr>
          <a:xfrm>
            <a:off x="457200" y="263347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Assignment Group</a:t>
            </a:r>
            <a:endParaRPr lang="en-US" sz="1200" dirty="0"/>
          </a:p>
        </p:txBody>
      </p:sp>
      <p:sp>
        <p:nvSpPr>
          <p:cNvPr id="22" name="Text 20"/>
          <p:cNvSpPr/>
          <p:nvPr/>
        </p:nvSpPr>
        <p:spPr>
          <a:xfrm>
            <a:off x="2926080" y="263347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Hardware (sys_id or name)</a:t>
            </a:r>
            <a:endParaRPr lang="en-US" sz="1200" dirty="0"/>
          </a:p>
        </p:txBody>
      </p:sp>
      <p:sp>
        <p:nvSpPr>
          <p:cNvPr id="23" name="Text 21"/>
          <p:cNvSpPr/>
          <p:nvPr/>
        </p:nvSpPr>
        <p:spPr>
          <a:xfrm>
            <a:off x="6400800" y="263347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sc_task.assignment_group</a:t>
            </a:r>
            <a:endParaRPr lang="en-US" sz="1200" dirty="0"/>
          </a:p>
        </p:txBody>
      </p:sp>
      <p:sp>
        <p:nvSpPr>
          <p:cNvPr id="24" name="Shape 22"/>
          <p:cNvSpPr/>
          <p:nvPr/>
        </p:nvSpPr>
        <p:spPr>
          <a:xfrm>
            <a:off x="365760" y="2971800"/>
            <a:ext cx="8412480" cy="411480"/>
          </a:xfrm>
          <a:prstGeom prst="rect">
            <a:avLst/>
          </a:prstGeom>
          <a:solidFill>
            <a:srgbClr val="F8FAFC"/>
          </a:solidFill>
          <a:ln/>
        </p:spPr>
      </p:sp>
      <p:sp>
        <p:nvSpPr>
          <p:cNvPr id="25" name="Text 23"/>
          <p:cNvSpPr/>
          <p:nvPr/>
        </p:nvSpPr>
        <p:spPr>
          <a:xfrm>
            <a:off x="457200" y="304495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State</a:t>
            </a:r>
            <a:endParaRPr lang="en-US" sz="1200" dirty="0"/>
          </a:p>
        </p:txBody>
      </p:sp>
      <p:sp>
        <p:nvSpPr>
          <p:cNvPr id="26" name="Text 24"/>
          <p:cNvSpPr/>
          <p:nvPr/>
        </p:nvSpPr>
        <p:spPr>
          <a:xfrm>
            <a:off x="2926080" y="304495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Open (default)</a:t>
            </a:r>
            <a:endParaRPr lang="en-US" sz="1200" dirty="0"/>
          </a:p>
        </p:txBody>
      </p:sp>
      <p:sp>
        <p:nvSpPr>
          <p:cNvPr id="27" name="Text 25"/>
          <p:cNvSpPr/>
          <p:nvPr/>
        </p:nvSpPr>
        <p:spPr>
          <a:xfrm>
            <a:off x="6400800" y="304495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sc_task.state</a:t>
            </a:r>
            <a:endParaRPr lang="en-US" sz="1200" dirty="0"/>
          </a:p>
        </p:txBody>
      </p:sp>
      <p:sp>
        <p:nvSpPr>
          <p:cNvPr id="28" name="Shape 26"/>
          <p:cNvSpPr/>
          <p:nvPr/>
        </p:nvSpPr>
        <p:spPr>
          <a:xfrm>
            <a:off x="365760" y="3383280"/>
            <a:ext cx="8412480" cy="411480"/>
          </a:xfrm>
          <a:prstGeom prst="rect">
            <a:avLst/>
          </a:prstGeom>
          <a:solidFill>
            <a:srgbClr val="FFFFFF"/>
          </a:solidFill>
          <a:ln/>
        </p:spPr>
      </p:sp>
      <p:sp>
        <p:nvSpPr>
          <p:cNvPr id="29" name="Text 27"/>
          <p:cNvSpPr/>
          <p:nvPr/>
        </p:nvSpPr>
        <p:spPr>
          <a:xfrm>
            <a:off x="457200" y="345643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Active</a:t>
            </a:r>
            <a:endParaRPr lang="en-US" sz="1200" dirty="0"/>
          </a:p>
        </p:txBody>
      </p:sp>
      <p:sp>
        <p:nvSpPr>
          <p:cNvPr id="30" name="Text 28"/>
          <p:cNvSpPr/>
          <p:nvPr/>
        </p:nvSpPr>
        <p:spPr>
          <a:xfrm>
            <a:off x="2926080" y="345643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true (checkbox)</a:t>
            </a:r>
            <a:endParaRPr lang="en-US" sz="1200" dirty="0"/>
          </a:p>
        </p:txBody>
      </p:sp>
      <p:sp>
        <p:nvSpPr>
          <p:cNvPr id="31" name="Text 29"/>
          <p:cNvSpPr/>
          <p:nvPr/>
        </p:nvSpPr>
        <p:spPr>
          <a:xfrm>
            <a:off x="6400800" y="345643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sc_task.active</a:t>
            </a:r>
            <a:endParaRPr lang="en-US" sz="1200" dirty="0"/>
          </a:p>
        </p:txBody>
      </p:sp>
      <p:sp>
        <p:nvSpPr>
          <p:cNvPr id="32" name="Shape 30"/>
          <p:cNvSpPr/>
          <p:nvPr/>
        </p:nvSpPr>
        <p:spPr>
          <a:xfrm>
            <a:off x="365760" y="3794760"/>
            <a:ext cx="8412480" cy="411480"/>
          </a:xfrm>
          <a:prstGeom prst="rect">
            <a:avLst/>
          </a:prstGeom>
          <a:solidFill>
            <a:srgbClr val="F8FAFC"/>
          </a:solidFill>
          <a:ln/>
        </p:spPr>
      </p:sp>
      <p:sp>
        <p:nvSpPr>
          <p:cNvPr id="33" name="Text 31"/>
          <p:cNvSpPr/>
          <p:nvPr/>
        </p:nvSpPr>
        <p:spPr>
          <a:xfrm>
            <a:off x="457200" y="3867912"/>
            <a:ext cx="2377440" cy="27432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Approval</a:t>
            </a:r>
            <a:endParaRPr lang="en-US" sz="1200" dirty="0"/>
          </a:p>
        </p:txBody>
      </p:sp>
      <p:sp>
        <p:nvSpPr>
          <p:cNvPr id="34" name="Text 32"/>
          <p:cNvSpPr/>
          <p:nvPr/>
        </p:nvSpPr>
        <p:spPr>
          <a:xfrm>
            <a:off x="2926080" y="3867912"/>
            <a:ext cx="3291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Approved (inherited / set)</a:t>
            </a:r>
            <a:endParaRPr lang="en-US" sz="1200" dirty="0"/>
          </a:p>
        </p:txBody>
      </p:sp>
      <p:sp>
        <p:nvSpPr>
          <p:cNvPr id="35" name="Text 33"/>
          <p:cNvSpPr/>
          <p:nvPr/>
        </p:nvSpPr>
        <p:spPr>
          <a:xfrm>
            <a:off x="6400800" y="3867912"/>
            <a:ext cx="219456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sc_task.approval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4. Project Planning</a:t>
            </a:r>
            <a:endParaRPr lang="en-US" sz="2200" dirty="0"/>
          </a:p>
        </p:txBody>
      </p:sp>
      <p:sp>
        <p:nvSpPr>
          <p:cNvPr id="4" name="Text 2"/>
          <p:cNvSpPr/>
          <p:nvPr/>
        </p:nvSpPr>
        <p:spPr>
          <a:xfrm>
            <a:off x="457200" y="868680"/>
            <a:ext cx="82296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High-Level Timeline</a:t>
            </a:r>
            <a:endParaRPr lang="en-US" sz="1400" dirty="0"/>
          </a:p>
        </p:txBody>
      </p:sp>
      <p:sp>
        <p:nvSpPr>
          <p:cNvPr id="5" name="Shape 3"/>
          <p:cNvSpPr/>
          <p:nvPr/>
        </p:nvSpPr>
        <p:spPr>
          <a:xfrm>
            <a:off x="365760" y="1234440"/>
            <a:ext cx="1645920" cy="1005840"/>
          </a:xfrm>
          <a:prstGeom prst="roundRect">
            <a:avLst>
              <a:gd name="adj" fmla="val 7273"/>
            </a:avLst>
          </a:prstGeom>
          <a:solidFill>
            <a:srgbClr val="F8FAFC"/>
          </a:solidFill>
          <a:ln/>
        </p:spPr>
      </p:sp>
      <p:sp>
        <p:nvSpPr>
          <p:cNvPr id="6" name="Text 4"/>
          <p:cNvSpPr/>
          <p:nvPr/>
        </p:nvSpPr>
        <p:spPr>
          <a:xfrm>
            <a:off x="411480" y="1371600"/>
            <a:ext cx="1554480" cy="41148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Ideation &amp; Scope</a:t>
            </a:r>
            <a:endParaRPr lang="en-US" sz="1100" dirty="0"/>
          </a:p>
        </p:txBody>
      </p:sp>
      <p:sp>
        <p:nvSpPr>
          <p:cNvPr id="7" name="Text 5"/>
          <p:cNvSpPr/>
          <p:nvPr/>
        </p:nvSpPr>
        <p:spPr>
          <a:xfrm>
            <a:off x="411480" y="1828800"/>
            <a:ext cx="1554480" cy="274320"/>
          </a:xfrm>
          <a:prstGeom prst="rect">
            <a:avLst/>
          </a:prstGeom>
          <a:noFill/>
          <a:ln/>
        </p:spPr>
        <p:txBody>
          <a:bodyPr wrap="square" rtlCol="0" anchor="ctr"/>
          <a:lstStyle/>
          <a:p>
            <a:pPr algn="ctr" indent="0" marL="0">
              <a:buNone/>
            </a:pPr>
            <a:r>
              <a:rPr lang="en-US" sz="1200" dirty="0">
                <a:solidFill>
                  <a:srgbClr val="00A86B"/>
                </a:solidFill>
                <a:latin typeface="Arial" pitchFamily="34" charset="0"/>
                <a:ea typeface="Arial" pitchFamily="34" charset="-122"/>
                <a:cs typeface="Arial" pitchFamily="34" charset="-120"/>
              </a:rPr>
              <a:t>Day 1-2</a:t>
            </a:r>
            <a:endParaRPr lang="en-US" sz="1200" dirty="0"/>
          </a:p>
        </p:txBody>
      </p:sp>
      <p:sp>
        <p:nvSpPr>
          <p:cNvPr id="8" name="Shape 6"/>
          <p:cNvSpPr/>
          <p:nvPr/>
        </p:nvSpPr>
        <p:spPr>
          <a:xfrm>
            <a:off x="2103120" y="1234440"/>
            <a:ext cx="1645920" cy="1005840"/>
          </a:xfrm>
          <a:prstGeom prst="roundRect">
            <a:avLst>
              <a:gd name="adj" fmla="val 7273"/>
            </a:avLst>
          </a:prstGeom>
          <a:solidFill>
            <a:srgbClr val="F8FAFC"/>
          </a:solidFill>
          <a:ln/>
        </p:spPr>
      </p:sp>
      <p:sp>
        <p:nvSpPr>
          <p:cNvPr id="9" name="Text 7"/>
          <p:cNvSpPr/>
          <p:nvPr/>
        </p:nvSpPr>
        <p:spPr>
          <a:xfrm>
            <a:off x="2148840" y="1371600"/>
            <a:ext cx="1554480" cy="41148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Requirements</a:t>
            </a:r>
            <a:endParaRPr lang="en-US" sz="1100" dirty="0"/>
          </a:p>
        </p:txBody>
      </p:sp>
      <p:sp>
        <p:nvSpPr>
          <p:cNvPr id="10" name="Text 8"/>
          <p:cNvSpPr/>
          <p:nvPr/>
        </p:nvSpPr>
        <p:spPr>
          <a:xfrm>
            <a:off x="2148840" y="1828800"/>
            <a:ext cx="1554480" cy="274320"/>
          </a:xfrm>
          <a:prstGeom prst="rect">
            <a:avLst/>
          </a:prstGeom>
          <a:noFill/>
          <a:ln/>
        </p:spPr>
        <p:txBody>
          <a:bodyPr wrap="square" rtlCol="0" anchor="ctr"/>
          <a:lstStyle/>
          <a:p>
            <a:pPr algn="ctr" indent="0" marL="0">
              <a:buNone/>
            </a:pPr>
            <a:r>
              <a:rPr lang="en-US" sz="1200" dirty="0">
                <a:solidFill>
                  <a:srgbClr val="00A86B"/>
                </a:solidFill>
                <a:latin typeface="Arial" pitchFamily="34" charset="0"/>
                <a:ea typeface="Arial" pitchFamily="34" charset="-122"/>
                <a:cs typeface="Arial" pitchFamily="34" charset="-120"/>
              </a:rPr>
              <a:t>Day 3-4</a:t>
            </a:r>
            <a:endParaRPr lang="en-US" sz="1200" dirty="0"/>
          </a:p>
        </p:txBody>
      </p:sp>
      <p:sp>
        <p:nvSpPr>
          <p:cNvPr id="11" name="Shape 9"/>
          <p:cNvSpPr/>
          <p:nvPr/>
        </p:nvSpPr>
        <p:spPr>
          <a:xfrm>
            <a:off x="3840480" y="1234440"/>
            <a:ext cx="1645920" cy="1005840"/>
          </a:xfrm>
          <a:prstGeom prst="roundRect">
            <a:avLst>
              <a:gd name="adj" fmla="val 7273"/>
            </a:avLst>
          </a:prstGeom>
          <a:solidFill>
            <a:srgbClr val="F8FAFC"/>
          </a:solidFill>
          <a:ln/>
        </p:spPr>
      </p:sp>
      <p:sp>
        <p:nvSpPr>
          <p:cNvPr id="12" name="Text 10"/>
          <p:cNvSpPr/>
          <p:nvPr/>
        </p:nvSpPr>
        <p:spPr>
          <a:xfrm>
            <a:off x="3886200" y="1371600"/>
            <a:ext cx="1554480" cy="41148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Design &amp; Build</a:t>
            </a:r>
            <a:endParaRPr lang="en-US" sz="1100" dirty="0"/>
          </a:p>
        </p:txBody>
      </p:sp>
      <p:sp>
        <p:nvSpPr>
          <p:cNvPr id="13" name="Text 11"/>
          <p:cNvSpPr/>
          <p:nvPr/>
        </p:nvSpPr>
        <p:spPr>
          <a:xfrm>
            <a:off x="3886200" y="1828800"/>
            <a:ext cx="1554480" cy="274320"/>
          </a:xfrm>
          <a:prstGeom prst="rect">
            <a:avLst/>
          </a:prstGeom>
          <a:noFill/>
          <a:ln/>
        </p:spPr>
        <p:txBody>
          <a:bodyPr wrap="square" rtlCol="0" anchor="ctr"/>
          <a:lstStyle/>
          <a:p>
            <a:pPr algn="ctr" indent="0" marL="0">
              <a:buNone/>
            </a:pPr>
            <a:r>
              <a:rPr lang="en-US" sz="1200" dirty="0">
                <a:solidFill>
                  <a:srgbClr val="00A86B"/>
                </a:solidFill>
                <a:latin typeface="Arial" pitchFamily="34" charset="0"/>
                <a:ea typeface="Arial" pitchFamily="34" charset="-122"/>
                <a:cs typeface="Arial" pitchFamily="34" charset="-120"/>
              </a:rPr>
              <a:t>Day 5-8</a:t>
            </a:r>
            <a:endParaRPr lang="en-US" sz="1200" dirty="0"/>
          </a:p>
        </p:txBody>
      </p:sp>
      <p:sp>
        <p:nvSpPr>
          <p:cNvPr id="14" name="Shape 12"/>
          <p:cNvSpPr/>
          <p:nvPr/>
        </p:nvSpPr>
        <p:spPr>
          <a:xfrm>
            <a:off x="5577840" y="1234440"/>
            <a:ext cx="1645920" cy="1005840"/>
          </a:xfrm>
          <a:prstGeom prst="roundRect">
            <a:avLst>
              <a:gd name="adj" fmla="val 7273"/>
            </a:avLst>
          </a:prstGeom>
          <a:solidFill>
            <a:srgbClr val="F8FAFC"/>
          </a:solidFill>
          <a:ln/>
        </p:spPr>
      </p:sp>
      <p:sp>
        <p:nvSpPr>
          <p:cNvPr id="15" name="Text 13"/>
          <p:cNvSpPr/>
          <p:nvPr/>
        </p:nvSpPr>
        <p:spPr>
          <a:xfrm>
            <a:off x="5623560" y="1371600"/>
            <a:ext cx="1554480" cy="41148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Test &amp; UAT</a:t>
            </a:r>
            <a:endParaRPr lang="en-US" sz="1100" dirty="0"/>
          </a:p>
        </p:txBody>
      </p:sp>
      <p:sp>
        <p:nvSpPr>
          <p:cNvPr id="16" name="Text 14"/>
          <p:cNvSpPr/>
          <p:nvPr/>
        </p:nvSpPr>
        <p:spPr>
          <a:xfrm>
            <a:off x="5623560" y="1828800"/>
            <a:ext cx="1554480" cy="274320"/>
          </a:xfrm>
          <a:prstGeom prst="rect">
            <a:avLst/>
          </a:prstGeom>
          <a:noFill/>
          <a:ln/>
        </p:spPr>
        <p:txBody>
          <a:bodyPr wrap="square" rtlCol="0" anchor="ctr"/>
          <a:lstStyle/>
          <a:p>
            <a:pPr algn="ctr" indent="0" marL="0">
              <a:buNone/>
            </a:pPr>
            <a:r>
              <a:rPr lang="en-US" sz="1200" dirty="0">
                <a:solidFill>
                  <a:srgbClr val="00A86B"/>
                </a:solidFill>
                <a:latin typeface="Arial" pitchFamily="34" charset="0"/>
                <a:ea typeface="Arial" pitchFamily="34" charset="-122"/>
                <a:cs typeface="Arial" pitchFamily="34" charset="-120"/>
              </a:rPr>
              <a:t>Day 9-11</a:t>
            </a:r>
            <a:endParaRPr lang="en-US" sz="1200" dirty="0"/>
          </a:p>
        </p:txBody>
      </p:sp>
      <p:sp>
        <p:nvSpPr>
          <p:cNvPr id="17" name="Shape 15"/>
          <p:cNvSpPr/>
          <p:nvPr/>
        </p:nvSpPr>
        <p:spPr>
          <a:xfrm>
            <a:off x="7315200" y="1234440"/>
            <a:ext cx="1645920" cy="1005840"/>
          </a:xfrm>
          <a:prstGeom prst="roundRect">
            <a:avLst>
              <a:gd name="adj" fmla="val 7273"/>
            </a:avLst>
          </a:prstGeom>
          <a:solidFill>
            <a:srgbClr val="F8FAFC"/>
          </a:solidFill>
          <a:ln/>
        </p:spPr>
      </p:sp>
      <p:sp>
        <p:nvSpPr>
          <p:cNvPr id="18" name="Text 16"/>
          <p:cNvSpPr/>
          <p:nvPr/>
        </p:nvSpPr>
        <p:spPr>
          <a:xfrm>
            <a:off x="7360920" y="1371600"/>
            <a:ext cx="1554480" cy="41148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Go-Live &amp; Docs</a:t>
            </a:r>
            <a:endParaRPr lang="en-US" sz="1100" dirty="0"/>
          </a:p>
        </p:txBody>
      </p:sp>
      <p:sp>
        <p:nvSpPr>
          <p:cNvPr id="19" name="Text 17"/>
          <p:cNvSpPr/>
          <p:nvPr/>
        </p:nvSpPr>
        <p:spPr>
          <a:xfrm>
            <a:off x="7360920" y="1828800"/>
            <a:ext cx="1554480" cy="274320"/>
          </a:xfrm>
          <a:prstGeom prst="rect">
            <a:avLst/>
          </a:prstGeom>
          <a:noFill/>
          <a:ln/>
        </p:spPr>
        <p:txBody>
          <a:bodyPr wrap="square" rtlCol="0" anchor="ctr"/>
          <a:lstStyle/>
          <a:p>
            <a:pPr algn="ctr" indent="0" marL="0">
              <a:buNone/>
            </a:pPr>
            <a:r>
              <a:rPr lang="en-US" sz="1200" dirty="0">
                <a:solidFill>
                  <a:srgbClr val="00A86B"/>
                </a:solidFill>
                <a:latin typeface="Arial" pitchFamily="34" charset="0"/>
                <a:ea typeface="Arial" pitchFamily="34" charset="-122"/>
                <a:cs typeface="Arial" pitchFamily="34" charset="-120"/>
              </a:rPr>
              <a:t>Day 12-14</a:t>
            </a:r>
            <a:endParaRPr lang="en-US" sz="1200" dirty="0"/>
          </a:p>
        </p:txBody>
      </p:sp>
      <p:sp>
        <p:nvSpPr>
          <p:cNvPr id="20" name="Text 18"/>
          <p:cNvSpPr/>
          <p:nvPr/>
        </p:nvSpPr>
        <p:spPr>
          <a:xfrm>
            <a:off x="457200" y="2468880"/>
            <a:ext cx="82296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Key Roles &amp; Responsibilities</a:t>
            </a:r>
            <a:endParaRPr lang="en-US" sz="1400" dirty="0"/>
          </a:p>
        </p:txBody>
      </p:sp>
      <p:sp>
        <p:nvSpPr>
          <p:cNvPr id="21" name="Text 19"/>
          <p:cNvSpPr/>
          <p:nvPr/>
        </p:nvSpPr>
        <p:spPr>
          <a:xfrm>
            <a:off x="457200" y="2834640"/>
            <a:ext cx="2103120" cy="32004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Process Owner</a:t>
            </a:r>
            <a:endParaRPr lang="en-US" sz="1200" dirty="0"/>
          </a:p>
        </p:txBody>
      </p:sp>
      <p:sp>
        <p:nvSpPr>
          <p:cNvPr id="22" name="Text 20"/>
          <p:cNvSpPr/>
          <p:nvPr/>
        </p:nvSpPr>
        <p:spPr>
          <a:xfrm>
            <a:off x="2651760" y="2834640"/>
            <a:ext cx="594360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Define success criteria &amp; approve flow design</a:t>
            </a:r>
            <a:endParaRPr lang="en-US" sz="1200" dirty="0"/>
          </a:p>
        </p:txBody>
      </p:sp>
      <p:sp>
        <p:nvSpPr>
          <p:cNvPr id="23" name="Text 21"/>
          <p:cNvSpPr/>
          <p:nvPr/>
        </p:nvSpPr>
        <p:spPr>
          <a:xfrm>
            <a:off x="457200" y="3218688"/>
            <a:ext cx="2103120" cy="32004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Flow Designer</a:t>
            </a:r>
            <a:endParaRPr lang="en-US" sz="1200" dirty="0"/>
          </a:p>
        </p:txBody>
      </p:sp>
      <p:sp>
        <p:nvSpPr>
          <p:cNvPr id="24" name="Text 22"/>
          <p:cNvSpPr/>
          <p:nvPr/>
        </p:nvSpPr>
        <p:spPr>
          <a:xfrm>
            <a:off x="2651760" y="3218688"/>
            <a:ext cx="594360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Build &amp; configure the flow in Workflow Studio</a:t>
            </a:r>
            <a:endParaRPr lang="en-US" sz="1200" dirty="0"/>
          </a:p>
        </p:txBody>
      </p:sp>
      <p:sp>
        <p:nvSpPr>
          <p:cNvPr id="25" name="Text 23"/>
          <p:cNvSpPr/>
          <p:nvPr/>
        </p:nvSpPr>
        <p:spPr>
          <a:xfrm>
            <a:off x="457200" y="3602736"/>
            <a:ext cx="2103120" cy="32004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Catalog Admin</a:t>
            </a:r>
            <a:endParaRPr lang="en-US" sz="1200" dirty="0"/>
          </a:p>
        </p:txBody>
      </p:sp>
      <p:sp>
        <p:nvSpPr>
          <p:cNvPr id="26" name="Text 24"/>
          <p:cNvSpPr/>
          <p:nvPr/>
        </p:nvSpPr>
        <p:spPr>
          <a:xfrm>
            <a:off x="2651760" y="3602736"/>
            <a:ext cx="594360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Link flow to Standard Laptop catalog item</a:t>
            </a:r>
            <a:endParaRPr lang="en-US" sz="1200" dirty="0"/>
          </a:p>
        </p:txBody>
      </p:sp>
      <p:sp>
        <p:nvSpPr>
          <p:cNvPr id="27" name="Text 25"/>
          <p:cNvSpPr/>
          <p:nvPr/>
        </p:nvSpPr>
        <p:spPr>
          <a:xfrm>
            <a:off x="457200" y="3986784"/>
            <a:ext cx="2103120" cy="32004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Hardware Team</a:t>
            </a:r>
            <a:endParaRPr lang="en-US" sz="1200" dirty="0"/>
          </a:p>
        </p:txBody>
      </p:sp>
      <p:sp>
        <p:nvSpPr>
          <p:cNvPr id="28" name="Text 26"/>
          <p:cNvSpPr/>
          <p:nvPr/>
        </p:nvSpPr>
        <p:spPr>
          <a:xfrm>
            <a:off x="2651760" y="3986784"/>
            <a:ext cx="594360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Validate task assignment &amp; short description</a:t>
            </a:r>
            <a:endParaRPr lang="en-US" sz="1200" dirty="0"/>
          </a:p>
        </p:txBody>
      </p:sp>
      <p:sp>
        <p:nvSpPr>
          <p:cNvPr id="29" name="Text 27"/>
          <p:cNvSpPr/>
          <p:nvPr/>
        </p:nvSpPr>
        <p:spPr>
          <a:xfrm>
            <a:off x="457200" y="4370832"/>
            <a:ext cx="2103120" cy="32004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Tester / UAT</a:t>
            </a:r>
            <a:endParaRPr lang="en-US" sz="1200" dirty="0"/>
          </a:p>
        </p:txBody>
      </p:sp>
      <p:sp>
        <p:nvSpPr>
          <p:cNvPr id="30" name="Text 28"/>
          <p:cNvSpPr/>
          <p:nvPr/>
        </p:nvSpPr>
        <p:spPr>
          <a:xfrm>
            <a:off x="2651760" y="4370832"/>
            <a:ext cx="5943600" cy="32004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Execute end-to-end test with RITM → SCTASK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5. Project Development – Implementation Steps</a:t>
            </a:r>
            <a:endParaRPr lang="en-US" sz="2000" dirty="0"/>
          </a:p>
        </p:txBody>
      </p:sp>
      <p:sp>
        <p:nvSpPr>
          <p:cNvPr id="4" name="Shape 2"/>
          <p:cNvSpPr/>
          <p:nvPr/>
        </p:nvSpPr>
        <p:spPr>
          <a:xfrm>
            <a:off x="411480" y="914400"/>
            <a:ext cx="365760" cy="365760"/>
          </a:xfrm>
          <a:prstGeom prst="ellipse">
            <a:avLst/>
          </a:prstGeom>
          <a:solidFill>
            <a:srgbClr val="00A86B"/>
          </a:solidFill>
          <a:ln/>
        </p:spPr>
      </p:sp>
      <p:sp>
        <p:nvSpPr>
          <p:cNvPr id="5" name="Text 3"/>
          <p:cNvSpPr/>
          <p:nvPr/>
        </p:nvSpPr>
        <p:spPr>
          <a:xfrm>
            <a:off x="411480" y="960120"/>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960120" y="868680"/>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Create Flow</a:t>
            </a:r>
            <a:endParaRPr lang="en-US" sz="1300" dirty="0"/>
          </a:p>
        </p:txBody>
      </p:sp>
      <p:sp>
        <p:nvSpPr>
          <p:cNvPr id="7" name="Text 5"/>
          <p:cNvSpPr/>
          <p:nvPr/>
        </p:nvSpPr>
        <p:spPr>
          <a:xfrm>
            <a:off x="3291840" y="868680"/>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Workflow Studio → New Flow → Name: Standard laptop task → Application: Global</a:t>
            </a:r>
            <a:endParaRPr lang="en-US" sz="1200" dirty="0"/>
          </a:p>
        </p:txBody>
      </p:sp>
      <p:sp>
        <p:nvSpPr>
          <p:cNvPr id="8" name="Shape 6"/>
          <p:cNvSpPr/>
          <p:nvPr/>
        </p:nvSpPr>
        <p:spPr>
          <a:xfrm>
            <a:off x="411480" y="1572768"/>
            <a:ext cx="365760" cy="365760"/>
          </a:xfrm>
          <a:prstGeom prst="ellipse">
            <a:avLst/>
          </a:prstGeom>
          <a:solidFill>
            <a:srgbClr val="00A86B"/>
          </a:solidFill>
          <a:ln/>
        </p:spPr>
      </p:sp>
      <p:sp>
        <p:nvSpPr>
          <p:cNvPr id="9" name="Text 7"/>
          <p:cNvSpPr/>
          <p:nvPr/>
        </p:nvSpPr>
        <p:spPr>
          <a:xfrm>
            <a:off x="411480" y="1618488"/>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960120" y="1527048"/>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Add Trigger</a:t>
            </a:r>
            <a:endParaRPr lang="en-US" sz="1300" dirty="0"/>
          </a:p>
        </p:txBody>
      </p:sp>
      <p:sp>
        <p:nvSpPr>
          <p:cNvPr id="11" name="Text 9"/>
          <p:cNvSpPr/>
          <p:nvPr/>
        </p:nvSpPr>
        <p:spPr>
          <a:xfrm>
            <a:off x="3291840" y="1527048"/>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Trigger type: Service Catalog → Select catalog item “Standard Laptop”</a:t>
            </a:r>
            <a:endParaRPr lang="en-US" sz="1200" dirty="0"/>
          </a:p>
        </p:txBody>
      </p:sp>
      <p:sp>
        <p:nvSpPr>
          <p:cNvPr id="12" name="Shape 10"/>
          <p:cNvSpPr/>
          <p:nvPr/>
        </p:nvSpPr>
        <p:spPr>
          <a:xfrm>
            <a:off x="411480" y="2231136"/>
            <a:ext cx="365760" cy="365760"/>
          </a:xfrm>
          <a:prstGeom prst="ellipse">
            <a:avLst/>
          </a:prstGeom>
          <a:solidFill>
            <a:srgbClr val="00A86B"/>
          </a:solidFill>
          <a:ln/>
        </p:spPr>
      </p:sp>
      <p:sp>
        <p:nvSpPr>
          <p:cNvPr id="13" name="Text 11"/>
          <p:cNvSpPr/>
          <p:nvPr/>
        </p:nvSpPr>
        <p:spPr>
          <a:xfrm>
            <a:off x="411480" y="2276856"/>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960120" y="2185416"/>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Add Action</a:t>
            </a:r>
            <a:endParaRPr lang="en-US" sz="1300" dirty="0"/>
          </a:p>
        </p:txBody>
      </p:sp>
      <p:sp>
        <p:nvSpPr>
          <p:cNvPr id="15" name="Text 13"/>
          <p:cNvSpPr/>
          <p:nvPr/>
        </p:nvSpPr>
        <p:spPr>
          <a:xfrm>
            <a:off x="3291840" y="2185416"/>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Action: Create Catalog Task → Table: Catalog Task [sc_task]</a:t>
            </a:r>
            <a:endParaRPr lang="en-US" sz="1200" dirty="0"/>
          </a:p>
        </p:txBody>
      </p:sp>
      <p:sp>
        <p:nvSpPr>
          <p:cNvPr id="16" name="Shape 14"/>
          <p:cNvSpPr/>
          <p:nvPr/>
        </p:nvSpPr>
        <p:spPr>
          <a:xfrm>
            <a:off x="411480" y="2889504"/>
            <a:ext cx="365760" cy="365760"/>
          </a:xfrm>
          <a:prstGeom prst="ellipse">
            <a:avLst/>
          </a:prstGeom>
          <a:solidFill>
            <a:srgbClr val="00A86B"/>
          </a:solidFill>
          <a:ln/>
        </p:spPr>
      </p:sp>
      <p:sp>
        <p:nvSpPr>
          <p:cNvPr id="17" name="Text 15"/>
          <p:cNvSpPr/>
          <p:nvPr/>
        </p:nvSpPr>
        <p:spPr>
          <a:xfrm>
            <a:off x="411480" y="2935224"/>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960120" y="2843784"/>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Map Inputs</a:t>
            </a:r>
            <a:endParaRPr lang="en-US" sz="1300" dirty="0"/>
          </a:p>
        </p:txBody>
      </p:sp>
      <p:sp>
        <p:nvSpPr>
          <p:cNvPr id="19" name="Text 17"/>
          <p:cNvSpPr/>
          <p:nvPr/>
        </p:nvSpPr>
        <p:spPr>
          <a:xfrm>
            <a:off x="3291840" y="2843784"/>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Requested Item = Trigger → Requested Item Record; Short Description &amp; Description = “Laptop need to Configured”</a:t>
            </a:r>
            <a:endParaRPr lang="en-US" sz="1200" dirty="0"/>
          </a:p>
        </p:txBody>
      </p:sp>
      <p:sp>
        <p:nvSpPr>
          <p:cNvPr id="20" name="Shape 18"/>
          <p:cNvSpPr/>
          <p:nvPr/>
        </p:nvSpPr>
        <p:spPr>
          <a:xfrm>
            <a:off x="411480" y="3547872"/>
            <a:ext cx="365760" cy="365760"/>
          </a:xfrm>
          <a:prstGeom prst="ellipse">
            <a:avLst/>
          </a:prstGeom>
          <a:solidFill>
            <a:srgbClr val="00A86B"/>
          </a:solidFill>
          <a:ln/>
        </p:spPr>
      </p:sp>
      <p:sp>
        <p:nvSpPr>
          <p:cNvPr id="21" name="Text 19"/>
          <p:cNvSpPr/>
          <p:nvPr/>
        </p:nvSpPr>
        <p:spPr>
          <a:xfrm>
            <a:off x="411480" y="3593592"/>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2" name="Text 20"/>
          <p:cNvSpPr/>
          <p:nvPr/>
        </p:nvSpPr>
        <p:spPr>
          <a:xfrm>
            <a:off x="960120" y="3502152"/>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Set Assignment</a:t>
            </a:r>
            <a:endParaRPr lang="en-US" sz="1300" dirty="0"/>
          </a:p>
        </p:txBody>
      </p:sp>
      <p:sp>
        <p:nvSpPr>
          <p:cNvPr id="23" name="Text 21"/>
          <p:cNvSpPr/>
          <p:nvPr/>
        </p:nvSpPr>
        <p:spPr>
          <a:xfrm>
            <a:off x="3291840" y="3502152"/>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Optionally set Assignment Group = Hardware (or let business rules handle it)</a:t>
            </a:r>
            <a:endParaRPr lang="en-US" sz="1200" dirty="0"/>
          </a:p>
        </p:txBody>
      </p:sp>
      <p:sp>
        <p:nvSpPr>
          <p:cNvPr id="24" name="Shape 22"/>
          <p:cNvSpPr/>
          <p:nvPr/>
        </p:nvSpPr>
        <p:spPr>
          <a:xfrm>
            <a:off x="411480" y="4206240"/>
            <a:ext cx="365760" cy="365760"/>
          </a:xfrm>
          <a:prstGeom prst="ellipse">
            <a:avLst/>
          </a:prstGeom>
          <a:solidFill>
            <a:srgbClr val="00A86B"/>
          </a:solidFill>
          <a:ln/>
        </p:spPr>
      </p:sp>
      <p:sp>
        <p:nvSpPr>
          <p:cNvPr id="25" name="Text 23"/>
          <p:cNvSpPr/>
          <p:nvPr/>
        </p:nvSpPr>
        <p:spPr>
          <a:xfrm>
            <a:off x="411480" y="4251960"/>
            <a:ext cx="36576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6" name="Text 24"/>
          <p:cNvSpPr/>
          <p:nvPr/>
        </p:nvSpPr>
        <p:spPr>
          <a:xfrm>
            <a:off x="960120" y="4160520"/>
            <a:ext cx="2286000" cy="27432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Activate &amp; Test</a:t>
            </a:r>
            <a:endParaRPr lang="en-US" sz="1300" dirty="0"/>
          </a:p>
        </p:txBody>
      </p:sp>
      <p:sp>
        <p:nvSpPr>
          <p:cNvPr id="27" name="Text 25"/>
          <p:cNvSpPr/>
          <p:nvPr/>
        </p:nvSpPr>
        <p:spPr>
          <a:xfrm>
            <a:off x="3291840" y="4160520"/>
            <a:ext cx="5394960" cy="5029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Activate flow → Submit test request → Verify SCTASK created under RITM with correct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5. Development – Test Evidence (from Screenshots)</a:t>
            </a:r>
            <a:endParaRPr lang="en-US" sz="2000" dirty="0"/>
          </a:p>
        </p:txBody>
      </p:sp>
      <p:sp>
        <p:nvSpPr>
          <p:cNvPr id="4" name="Shape 2"/>
          <p:cNvSpPr/>
          <p:nvPr/>
        </p:nvSpPr>
        <p:spPr>
          <a:xfrm>
            <a:off x="320040" y="914400"/>
            <a:ext cx="2788920" cy="3840480"/>
          </a:xfrm>
          <a:prstGeom prst="roundRect">
            <a:avLst>
              <a:gd name="adj" fmla="val 3279"/>
            </a:avLst>
          </a:prstGeom>
          <a:solidFill>
            <a:srgbClr val="F8FAFC"/>
          </a:solidFill>
          <a:ln/>
        </p:spPr>
      </p:sp>
      <p:sp>
        <p:nvSpPr>
          <p:cNvPr id="5" name="Shape 3"/>
          <p:cNvSpPr/>
          <p:nvPr/>
        </p:nvSpPr>
        <p:spPr>
          <a:xfrm>
            <a:off x="320040" y="914400"/>
            <a:ext cx="2788920" cy="640080"/>
          </a:xfrm>
          <a:prstGeom prst="rect">
            <a:avLst/>
          </a:prstGeom>
          <a:solidFill>
            <a:srgbClr val="1A2744"/>
          </a:solidFill>
          <a:ln/>
        </p:spPr>
      </p:sp>
      <p:sp>
        <p:nvSpPr>
          <p:cNvPr id="6" name="Text 4"/>
          <p:cNvSpPr/>
          <p:nvPr/>
        </p:nvSpPr>
        <p:spPr>
          <a:xfrm>
            <a:off x="411480" y="987552"/>
            <a:ext cx="260604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Requested Item</a:t>
            </a:r>
            <a:endParaRPr lang="en-US" sz="1300" dirty="0"/>
          </a:p>
        </p:txBody>
      </p:sp>
      <p:sp>
        <p:nvSpPr>
          <p:cNvPr id="7" name="Text 5"/>
          <p:cNvSpPr/>
          <p:nvPr/>
        </p:nvSpPr>
        <p:spPr>
          <a:xfrm>
            <a:off x="411480" y="1261872"/>
            <a:ext cx="2606040" cy="228600"/>
          </a:xfrm>
          <a:prstGeom prst="rect">
            <a:avLst/>
          </a:prstGeom>
          <a:noFill/>
          <a:ln/>
        </p:spPr>
        <p:txBody>
          <a:bodyPr wrap="square" rtlCol="0" anchor="ctr"/>
          <a:lstStyle/>
          <a:p>
            <a:pPr algn="ctr" indent="0" marL="0">
              <a:buNone/>
            </a:pPr>
            <a:r>
              <a:rPr lang="en-US" sz="1200" dirty="0">
                <a:solidFill>
                  <a:srgbClr val="34D399"/>
                </a:solidFill>
                <a:latin typeface="Arial" pitchFamily="34" charset="0"/>
                <a:ea typeface="Arial" pitchFamily="34" charset="-122"/>
                <a:cs typeface="Arial" pitchFamily="34" charset="-120"/>
              </a:rPr>
              <a:t>RITM0010004</a:t>
            </a:r>
            <a:endParaRPr lang="en-US" sz="1200" dirty="0"/>
          </a:p>
        </p:txBody>
      </p:sp>
      <p:sp>
        <p:nvSpPr>
          <p:cNvPr id="8" name="Text 6"/>
          <p:cNvSpPr/>
          <p:nvPr/>
        </p:nvSpPr>
        <p:spPr>
          <a:xfrm>
            <a:off x="457200" y="17373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Item: Standard Laptop</a:t>
            </a:r>
            <a:endParaRPr lang="en-US" sz="1200" dirty="0"/>
          </a:p>
        </p:txBody>
      </p:sp>
      <p:sp>
        <p:nvSpPr>
          <p:cNvPr id="9" name="Text 7"/>
          <p:cNvSpPr/>
          <p:nvPr/>
        </p:nvSpPr>
        <p:spPr>
          <a:xfrm>
            <a:off x="457200" y="21945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Stage: Request Approved</a:t>
            </a:r>
            <a:endParaRPr lang="en-US" sz="1200" dirty="0"/>
          </a:p>
        </p:txBody>
      </p:sp>
      <p:sp>
        <p:nvSpPr>
          <p:cNvPr id="10" name="Text 8"/>
          <p:cNvSpPr/>
          <p:nvPr/>
        </p:nvSpPr>
        <p:spPr>
          <a:xfrm>
            <a:off x="457200" y="26517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State: Open</a:t>
            </a:r>
            <a:endParaRPr lang="en-US" sz="1200" dirty="0"/>
          </a:p>
        </p:txBody>
      </p:sp>
      <p:sp>
        <p:nvSpPr>
          <p:cNvPr id="11" name="Text 9"/>
          <p:cNvSpPr/>
          <p:nvPr/>
        </p:nvSpPr>
        <p:spPr>
          <a:xfrm>
            <a:off x="457200" y="31089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Requested for: System Administrator</a:t>
            </a:r>
            <a:endParaRPr lang="en-US" sz="1200" dirty="0"/>
          </a:p>
        </p:txBody>
      </p:sp>
      <p:sp>
        <p:nvSpPr>
          <p:cNvPr id="12" name="Text 10"/>
          <p:cNvSpPr/>
          <p:nvPr/>
        </p:nvSpPr>
        <p:spPr>
          <a:xfrm>
            <a:off x="457200" y="35661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Variables: Optional Software available</a:t>
            </a:r>
            <a:endParaRPr lang="en-US" sz="1200" dirty="0"/>
          </a:p>
        </p:txBody>
      </p:sp>
      <p:sp>
        <p:nvSpPr>
          <p:cNvPr id="13" name="Shape 11"/>
          <p:cNvSpPr/>
          <p:nvPr/>
        </p:nvSpPr>
        <p:spPr>
          <a:xfrm>
            <a:off x="3246120" y="914400"/>
            <a:ext cx="2788920" cy="3840480"/>
          </a:xfrm>
          <a:prstGeom prst="roundRect">
            <a:avLst>
              <a:gd name="adj" fmla="val 3279"/>
            </a:avLst>
          </a:prstGeom>
          <a:solidFill>
            <a:srgbClr val="F8FAFC"/>
          </a:solidFill>
          <a:ln/>
        </p:spPr>
      </p:sp>
      <p:sp>
        <p:nvSpPr>
          <p:cNvPr id="14" name="Shape 12"/>
          <p:cNvSpPr/>
          <p:nvPr/>
        </p:nvSpPr>
        <p:spPr>
          <a:xfrm>
            <a:off x="3246120" y="914400"/>
            <a:ext cx="2788920" cy="640080"/>
          </a:xfrm>
          <a:prstGeom prst="rect">
            <a:avLst/>
          </a:prstGeom>
          <a:solidFill>
            <a:srgbClr val="1A2744"/>
          </a:solidFill>
          <a:ln/>
        </p:spPr>
      </p:sp>
      <p:sp>
        <p:nvSpPr>
          <p:cNvPr id="15" name="Text 13"/>
          <p:cNvSpPr/>
          <p:nvPr/>
        </p:nvSpPr>
        <p:spPr>
          <a:xfrm>
            <a:off x="3337560" y="987552"/>
            <a:ext cx="260604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Catalog Task Created</a:t>
            </a:r>
            <a:endParaRPr lang="en-US" sz="1300" dirty="0"/>
          </a:p>
        </p:txBody>
      </p:sp>
      <p:sp>
        <p:nvSpPr>
          <p:cNvPr id="16" name="Text 14"/>
          <p:cNvSpPr/>
          <p:nvPr/>
        </p:nvSpPr>
        <p:spPr>
          <a:xfrm>
            <a:off x="3337560" y="1261872"/>
            <a:ext cx="2606040" cy="228600"/>
          </a:xfrm>
          <a:prstGeom prst="rect">
            <a:avLst/>
          </a:prstGeom>
          <a:noFill/>
          <a:ln/>
        </p:spPr>
        <p:txBody>
          <a:bodyPr wrap="square" rtlCol="0" anchor="ctr"/>
          <a:lstStyle/>
          <a:p>
            <a:pPr algn="ctr" indent="0" marL="0">
              <a:buNone/>
            </a:pPr>
            <a:r>
              <a:rPr lang="en-US" sz="1200" dirty="0">
                <a:solidFill>
                  <a:srgbClr val="34D399"/>
                </a:solidFill>
                <a:latin typeface="Arial" pitchFamily="34" charset="0"/>
                <a:ea typeface="Arial" pitchFamily="34" charset="-122"/>
                <a:cs typeface="Arial" pitchFamily="34" charset="-120"/>
              </a:rPr>
              <a:t>SCTASK0010002</a:t>
            </a:r>
            <a:endParaRPr lang="en-US" sz="1200" dirty="0"/>
          </a:p>
        </p:txBody>
      </p:sp>
      <p:sp>
        <p:nvSpPr>
          <p:cNvPr id="17" name="Text 15"/>
          <p:cNvSpPr/>
          <p:nvPr/>
        </p:nvSpPr>
        <p:spPr>
          <a:xfrm>
            <a:off x="3383280" y="17373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Short description: Laptop need to Configured</a:t>
            </a:r>
            <a:endParaRPr lang="en-US" sz="1200" dirty="0"/>
          </a:p>
        </p:txBody>
      </p:sp>
      <p:sp>
        <p:nvSpPr>
          <p:cNvPr id="18" name="Text 16"/>
          <p:cNvSpPr/>
          <p:nvPr/>
        </p:nvSpPr>
        <p:spPr>
          <a:xfrm>
            <a:off x="3383280" y="21945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Description: same</a:t>
            </a:r>
            <a:endParaRPr lang="en-US" sz="1200" dirty="0"/>
          </a:p>
        </p:txBody>
      </p:sp>
      <p:sp>
        <p:nvSpPr>
          <p:cNvPr id="19" name="Text 17"/>
          <p:cNvSpPr/>
          <p:nvPr/>
        </p:nvSpPr>
        <p:spPr>
          <a:xfrm>
            <a:off x="3383280" y="26517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State: Open  |  Active: ✓</a:t>
            </a:r>
            <a:endParaRPr lang="en-US" sz="1200" dirty="0"/>
          </a:p>
        </p:txBody>
      </p:sp>
      <p:sp>
        <p:nvSpPr>
          <p:cNvPr id="20" name="Text 18"/>
          <p:cNvSpPr/>
          <p:nvPr/>
        </p:nvSpPr>
        <p:spPr>
          <a:xfrm>
            <a:off x="3383280" y="31089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Request item: RITM0010004</a:t>
            </a:r>
            <a:endParaRPr lang="en-US" sz="1200" dirty="0"/>
          </a:p>
        </p:txBody>
      </p:sp>
      <p:sp>
        <p:nvSpPr>
          <p:cNvPr id="21" name="Text 19"/>
          <p:cNvSpPr/>
          <p:nvPr/>
        </p:nvSpPr>
        <p:spPr>
          <a:xfrm>
            <a:off x="3383280" y="35661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Assignment group: Hardware</a:t>
            </a:r>
            <a:endParaRPr lang="en-US" sz="1200" dirty="0"/>
          </a:p>
        </p:txBody>
      </p:sp>
      <p:sp>
        <p:nvSpPr>
          <p:cNvPr id="22" name="Shape 20"/>
          <p:cNvSpPr/>
          <p:nvPr/>
        </p:nvSpPr>
        <p:spPr>
          <a:xfrm>
            <a:off x="6172200" y="914400"/>
            <a:ext cx="2788920" cy="3840480"/>
          </a:xfrm>
          <a:prstGeom prst="roundRect">
            <a:avLst>
              <a:gd name="adj" fmla="val 3279"/>
            </a:avLst>
          </a:prstGeom>
          <a:solidFill>
            <a:srgbClr val="F8FAFC"/>
          </a:solidFill>
          <a:ln/>
        </p:spPr>
      </p:sp>
      <p:sp>
        <p:nvSpPr>
          <p:cNvPr id="23" name="Shape 21"/>
          <p:cNvSpPr/>
          <p:nvPr/>
        </p:nvSpPr>
        <p:spPr>
          <a:xfrm>
            <a:off x="6172200" y="914400"/>
            <a:ext cx="2788920" cy="640080"/>
          </a:xfrm>
          <a:prstGeom prst="rect">
            <a:avLst/>
          </a:prstGeom>
          <a:solidFill>
            <a:srgbClr val="1A2744"/>
          </a:solidFill>
          <a:ln/>
        </p:spPr>
      </p:sp>
      <p:sp>
        <p:nvSpPr>
          <p:cNvPr id="24" name="Text 22"/>
          <p:cNvSpPr/>
          <p:nvPr/>
        </p:nvSpPr>
        <p:spPr>
          <a:xfrm>
            <a:off x="6263640" y="987552"/>
            <a:ext cx="260604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Related List</a:t>
            </a:r>
            <a:endParaRPr lang="en-US" sz="1300" dirty="0"/>
          </a:p>
        </p:txBody>
      </p:sp>
      <p:sp>
        <p:nvSpPr>
          <p:cNvPr id="25" name="Text 23"/>
          <p:cNvSpPr/>
          <p:nvPr/>
        </p:nvSpPr>
        <p:spPr>
          <a:xfrm>
            <a:off x="6263640" y="1261872"/>
            <a:ext cx="2606040" cy="228600"/>
          </a:xfrm>
          <a:prstGeom prst="rect">
            <a:avLst/>
          </a:prstGeom>
          <a:noFill/>
          <a:ln/>
        </p:spPr>
        <p:txBody>
          <a:bodyPr wrap="square" rtlCol="0" anchor="ctr"/>
          <a:lstStyle/>
          <a:p>
            <a:pPr algn="ctr" indent="0" marL="0">
              <a:buNone/>
            </a:pPr>
            <a:r>
              <a:rPr lang="en-US" sz="1200" dirty="0">
                <a:solidFill>
                  <a:srgbClr val="34D399"/>
                </a:solidFill>
                <a:latin typeface="Arial" pitchFamily="34" charset="0"/>
                <a:ea typeface="Arial" pitchFamily="34" charset="-122"/>
                <a:cs typeface="Arial" pitchFamily="34" charset="-120"/>
              </a:rPr>
              <a:t>RITM → Tasks</a:t>
            </a:r>
            <a:endParaRPr lang="en-US" sz="1200" dirty="0"/>
          </a:p>
        </p:txBody>
      </p:sp>
      <p:sp>
        <p:nvSpPr>
          <p:cNvPr id="26" name="Text 24"/>
          <p:cNvSpPr/>
          <p:nvPr/>
        </p:nvSpPr>
        <p:spPr>
          <a:xfrm>
            <a:off x="6309360" y="17373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Catalog Tasks (1)</a:t>
            </a:r>
            <a:endParaRPr lang="en-US" sz="1200" dirty="0"/>
          </a:p>
        </p:txBody>
      </p:sp>
      <p:sp>
        <p:nvSpPr>
          <p:cNvPr id="27" name="Text 25"/>
          <p:cNvSpPr/>
          <p:nvPr/>
        </p:nvSpPr>
        <p:spPr>
          <a:xfrm>
            <a:off x="6309360" y="21945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Number: SCTASK0010002</a:t>
            </a:r>
            <a:endParaRPr lang="en-US" sz="1200" dirty="0"/>
          </a:p>
        </p:txBody>
      </p:sp>
      <p:sp>
        <p:nvSpPr>
          <p:cNvPr id="28" name="Text 26"/>
          <p:cNvSpPr/>
          <p:nvPr/>
        </p:nvSpPr>
        <p:spPr>
          <a:xfrm>
            <a:off x="6309360" y="26517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Assigned to: (empty)</a:t>
            </a:r>
            <a:endParaRPr lang="en-US" sz="1200" dirty="0"/>
          </a:p>
        </p:txBody>
      </p:sp>
      <p:sp>
        <p:nvSpPr>
          <p:cNvPr id="29" name="Text 27"/>
          <p:cNvSpPr/>
          <p:nvPr/>
        </p:nvSpPr>
        <p:spPr>
          <a:xfrm>
            <a:off x="6309360" y="31089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Actual start populated</a:t>
            </a:r>
            <a:endParaRPr lang="en-US" sz="1200" dirty="0"/>
          </a:p>
        </p:txBody>
      </p:sp>
      <p:sp>
        <p:nvSpPr>
          <p:cNvPr id="30" name="Text 28"/>
          <p:cNvSpPr/>
          <p:nvPr/>
        </p:nvSpPr>
        <p:spPr>
          <a:xfrm>
            <a:off x="6309360" y="3566160"/>
            <a:ext cx="2514600" cy="41148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Order visible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Project Documentation &amp; Handover</a:t>
            </a:r>
            <a:endParaRPr lang="en-US" sz="2200" dirty="0"/>
          </a:p>
        </p:txBody>
      </p:sp>
      <p:sp>
        <p:nvSpPr>
          <p:cNvPr id="4" name="Shape 2"/>
          <p:cNvSpPr/>
          <p:nvPr/>
        </p:nvSpPr>
        <p:spPr>
          <a:xfrm>
            <a:off x="365760" y="914400"/>
            <a:ext cx="4114800" cy="1828800"/>
          </a:xfrm>
          <a:prstGeom prst="roundRect">
            <a:avLst>
              <a:gd name="adj" fmla="val 5000"/>
            </a:avLst>
          </a:prstGeom>
          <a:solidFill>
            <a:srgbClr val="F8FAFC"/>
          </a:solidFill>
          <a:ln/>
        </p:spPr>
      </p:sp>
      <p:pic>
        <p:nvPicPr>
          <p:cNvPr id="5" name="Image 0" descr="preencoded.png">    </p:cNvPr>
          <p:cNvPicPr>
            <a:picLocks noChangeAspect="1"/>
          </p:cNvPicPr>
          <p:nvPr/>
        </p:nvPicPr>
        <p:blipFill>
          <a:blip r:embed="rId1"/>
          <a:stretch>
            <a:fillRect/>
          </a:stretch>
        </p:blipFill>
        <p:spPr>
          <a:xfrm>
            <a:off x="548640" y="1097280"/>
            <a:ext cx="320040" cy="320040"/>
          </a:xfrm>
          <a:prstGeom prst="rect">
            <a:avLst/>
          </a:prstGeom>
        </p:spPr>
      </p:pic>
      <p:sp>
        <p:nvSpPr>
          <p:cNvPr id="6" name="Text 3"/>
          <p:cNvSpPr/>
          <p:nvPr/>
        </p:nvSpPr>
        <p:spPr>
          <a:xfrm>
            <a:off x="1005840" y="1115568"/>
            <a:ext cx="32004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Flow Design Spec</a:t>
            </a:r>
            <a:endParaRPr lang="en-US" sz="1400" dirty="0"/>
          </a:p>
        </p:txBody>
      </p:sp>
      <p:sp>
        <p:nvSpPr>
          <p:cNvPr id="7" name="Text 4"/>
          <p:cNvSpPr/>
          <p:nvPr/>
        </p:nvSpPr>
        <p:spPr>
          <a:xfrm>
            <a:off x="594360" y="1554480"/>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Flow name &amp; application</a:t>
            </a:r>
            <a:endParaRPr lang="en-US" sz="1200" dirty="0"/>
          </a:p>
        </p:txBody>
      </p:sp>
      <p:sp>
        <p:nvSpPr>
          <p:cNvPr id="8" name="Text 5"/>
          <p:cNvSpPr/>
          <p:nvPr/>
        </p:nvSpPr>
        <p:spPr>
          <a:xfrm>
            <a:off x="594360" y="1810512"/>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Trigger configuration</a:t>
            </a:r>
            <a:endParaRPr lang="en-US" sz="1200" dirty="0"/>
          </a:p>
        </p:txBody>
      </p:sp>
      <p:sp>
        <p:nvSpPr>
          <p:cNvPr id="9" name="Text 6"/>
          <p:cNvSpPr/>
          <p:nvPr/>
        </p:nvSpPr>
        <p:spPr>
          <a:xfrm>
            <a:off x="594360" y="2066544"/>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Action inputs &amp; data pills</a:t>
            </a:r>
            <a:endParaRPr lang="en-US" sz="1200" dirty="0"/>
          </a:p>
        </p:txBody>
      </p:sp>
      <p:sp>
        <p:nvSpPr>
          <p:cNvPr id="10" name="Text 7"/>
          <p:cNvSpPr/>
          <p:nvPr/>
        </p:nvSpPr>
        <p:spPr>
          <a:xfrm>
            <a:off x="594360" y="2322576"/>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Error handling notes</a:t>
            </a:r>
            <a:endParaRPr lang="en-US" sz="1200" dirty="0"/>
          </a:p>
        </p:txBody>
      </p:sp>
      <p:sp>
        <p:nvSpPr>
          <p:cNvPr id="11" name="Shape 8"/>
          <p:cNvSpPr/>
          <p:nvPr/>
        </p:nvSpPr>
        <p:spPr>
          <a:xfrm>
            <a:off x="4754880" y="914400"/>
            <a:ext cx="4114800" cy="1828800"/>
          </a:xfrm>
          <a:prstGeom prst="roundRect">
            <a:avLst>
              <a:gd name="adj" fmla="val 5000"/>
            </a:avLst>
          </a:prstGeom>
          <a:solidFill>
            <a:srgbClr val="F8FAFC"/>
          </a:solidFill>
          <a:ln/>
        </p:spPr>
      </p:sp>
      <p:pic>
        <p:nvPicPr>
          <p:cNvPr id="12" name="Image 1" descr="preencoded.png">    </p:cNvPr>
          <p:cNvPicPr>
            <a:picLocks noChangeAspect="1"/>
          </p:cNvPicPr>
          <p:nvPr/>
        </p:nvPicPr>
        <p:blipFill>
          <a:blip r:embed="rId2"/>
          <a:stretch>
            <a:fillRect/>
          </a:stretch>
        </p:blipFill>
        <p:spPr>
          <a:xfrm>
            <a:off x="4937760" y="1097280"/>
            <a:ext cx="320040" cy="320040"/>
          </a:xfrm>
          <a:prstGeom prst="rect">
            <a:avLst/>
          </a:prstGeom>
        </p:spPr>
      </p:pic>
      <p:sp>
        <p:nvSpPr>
          <p:cNvPr id="13" name="Text 9"/>
          <p:cNvSpPr/>
          <p:nvPr/>
        </p:nvSpPr>
        <p:spPr>
          <a:xfrm>
            <a:off x="5394960" y="1115568"/>
            <a:ext cx="32004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Test Cases</a:t>
            </a:r>
            <a:endParaRPr lang="en-US" sz="1400" dirty="0"/>
          </a:p>
        </p:txBody>
      </p:sp>
      <p:sp>
        <p:nvSpPr>
          <p:cNvPr id="14" name="Text 10"/>
          <p:cNvSpPr/>
          <p:nvPr/>
        </p:nvSpPr>
        <p:spPr>
          <a:xfrm>
            <a:off x="4983480" y="1554480"/>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Happy-path RITM → SCTASK</a:t>
            </a:r>
            <a:endParaRPr lang="en-US" sz="1200" dirty="0"/>
          </a:p>
        </p:txBody>
      </p:sp>
      <p:sp>
        <p:nvSpPr>
          <p:cNvPr id="15" name="Text 11"/>
          <p:cNvSpPr/>
          <p:nvPr/>
        </p:nvSpPr>
        <p:spPr>
          <a:xfrm>
            <a:off x="4983480" y="1810512"/>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Variable impact (software)</a:t>
            </a:r>
            <a:endParaRPr lang="en-US" sz="1200" dirty="0"/>
          </a:p>
        </p:txBody>
      </p:sp>
      <p:sp>
        <p:nvSpPr>
          <p:cNvPr id="16" name="Text 12"/>
          <p:cNvSpPr/>
          <p:nvPr/>
        </p:nvSpPr>
        <p:spPr>
          <a:xfrm>
            <a:off x="4983480" y="2066544"/>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Assignment group validation</a:t>
            </a:r>
            <a:endParaRPr lang="en-US" sz="1200" dirty="0"/>
          </a:p>
        </p:txBody>
      </p:sp>
      <p:sp>
        <p:nvSpPr>
          <p:cNvPr id="17" name="Text 13"/>
          <p:cNvSpPr/>
          <p:nvPr/>
        </p:nvSpPr>
        <p:spPr>
          <a:xfrm>
            <a:off x="4983480" y="2322576"/>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State &amp; Active flags</a:t>
            </a:r>
            <a:endParaRPr lang="en-US" sz="1200" dirty="0"/>
          </a:p>
        </p:txBody>
      </p:sp>
      <p:sp>
        <p:nvSpPr>
          <p:cNvPr id="18" name="Shape 14"/>
          <p:cNvSpPr/>
          <p:nvPr/>
        </p:nvSpPr>
        <p:spPr>
          <a:xfrm>
            <a:off x="365760" y="2880360"/>
            <a:ext cx="4114800" cy="1828800"/>
          </a:xfrm>
          <a:prstGeom prst="roundRect">
            <a:avLst>
              <a:gd name="adj" fmla="val 5000"/>
            </a:avLst>
          </a:prstGeom>
          <a:solidFill>
            <a:srgbClr val="F8FAFC"/>
          </a:solidFill>
          <a:ln/>
        </p:spPr>
      </p:sp>
      <p:pic>
        <p:nvPicPr>
          <p:cNvPr id="19" name="Image 2" descr="preencoded.png">    </p:cNvPr>
          <p:cNvPicPr>
            <a:picLocks noChangeAspect="1"/>
          </p:cNvPicPr>
          <p:nvPr/>
        </p:nvPicPr>
        <p:blipFill>
          <a:blip r:embed="rId3"/>
          <a:stretch>
            <a:fillRect/>
          </a:stretch>
        </p:blipFill>
        <p:spPr>
          <a:xfrm>
            <a:off x="548640" y="3063240"/>
            <a:ext cx="320040" cy="320040"/>
          </a:xfrm>
          <a:prstGeom prst="rect">
            <a:avLst/>
          </a:prstGeom>
        </p:spPr>
      </p:pic>
      <p:sp>
        <p:nvSpPr>
          <p:cNvPr id="20" name="Text 15"/>
          <p:cNvSpPr/>
          <p:nvPr/>
        </p:nvSpPr>
        <p:spPr>
          <a:xfrm>
            <a:off x="1005840" y="3081528"/>
            <a:ext cx="32004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Knowledge Transfer</a:t>
            </a:r>
            <a:endParaRPr lang="en-US" sz="1400" dirty="0"/>
          </a:p>
        </p:txBody>
      </p:sp>
      <p:sp>
        <p:nvSpPr>
          <p:cNvPr id="21" name="Text 16"/>
          <p:cNvSpPr/>
          <p:nvPr/>
        </p:nvSpPr>
        <p:spPr>
          <a:xfrm>
            <a:off x="594360" y="3520440"/>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How to deactivate/reactivate</a:t>
            </a:r>
            <a:endParaRPr lang="en-US" sz="1200" dirty="0"/>
          </a:p>
        </p:txBody>
      </p:sp>
      <p:sp>
        <p:nvSpPr>
          <p:cNvPr id="22" name="Text 17"/>
          <p:cNvSpPr/>
          <p:nvPr/>
        </p:nvSpPr>
        <p:spPr>
          <a:xfrm>
            <a:off x="594360" y="3776472"/>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How to extend for other items</a:t>
            </a:r>
            <a:endParaRPr lang="en-US" sz="1200" dirty="0"/>
          </a:p>
        </p:txBody>
      </p:sp>
      <p:sp>
        <p:nvSpPr>
          <p:cNvPr id="23" name="Text 18"/>
          <p:cNvSpPr/>
          <p:nvPr/>
        </p:nvSpPr>
        <p:spPr>
          <a:xfrm>
            <a:off x="594360" y="4032504"/>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Where to view Flow Context</a:t>
            </a:r>
            <a:endParaRPr lang="en-US" sz="1200" dirty="0"/>
          </a:p>
        </p:txBody>
      </p:sp>
      <p:sp>
        <p:nvSpPr>
          <p:cNvPr id="24" name="Text 19"/>
          <p:cNvSpPr/>
          <p:nvPr/>
        </p:nvSpPr>
        <p:spPr>
          <a:xfrm>
            <a:off x="594360" y="4288536"/>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Support contacts</a:t>
            </a:r>
            <a:endParaRPr lang="en-US" sz="1200" dirty="0"/>
          </a:p>
        </p:txBody>
      </p:sp>
      <p:sp>
        <p:nvSpPr>
          <p:cNvPr id="25" name="Shape 20"/>
          <p:cNvSpPr/>
          <p:nvPr/>
        </p:nvSpPr>
        <p:spPr>
          <a:xfrm>
            <a:off x="4754880" y="2880360"/>
            <a:ext cx="4114800" cy="1828800"/>
          </a:xfrm>
          <a:prstGeom prst="roundRect">
            <a:avLst>
              <a:gd name="adj" fmla="val 5000"/>
            </a:avLst>
          </a:prstGeom>
          <a:solidFill>
            <a:srgbClr val="F8FAFC"/>
          </a:solidFill>
          <a:ln/>
        </p:spPr>
      </p:sp>
      <p:pic>
        <p:nvPicPr>
          <p:cNvPr id="26" name="Image 3" descr="preencoded.png">    </p:cNvPr>
          <p:cNvPicPr>
            <a:picLocks noChangeAspect="1"/>
          </p:cNvPicPr>
          <p:nvPr/>
        </p:nvPicPr>
        <p:blipFill>
          <a:blip r:embed="rId4"/>
          <a:stretch>
            <a:fillRect/>
          </a:stretch>
        </p:blipFill>
        <p:spPr>
          <a:xfrm>
            <a:off x="4937760" y="3063240"/>
            <a:ext cx="320040" cy="320040"/>
          </a:xfrm>
          <a:prstGeom prst="rect">
            <a:avLst/>
          </a:prstGeom>
        </p:spPr>
      </p:pic>
      <p:sp>
        <p:nvSpPr>
          <p:cNvPr id="27" name="Text 21"/>
          <p:cNvSpPr/>
          <p:nvPr/>
        </p:nvSpPr>
        <p:spPr>
          <a:xfrm>
            <a:off x="5394960" y="3081528"/>
            <a:ext cx="32004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Operational Guide</a:t>
            </a:r>
            <a:endParaRPr lang="en-US" sz="1400" dirty="0"/>
          </a:p>
        </p:txBody>
      </p:sp>
      <p:sp>
        <p:nvSpPr>
          <p:cNvPr id="28" name="Text 22"/>
          <p:cNvSpPr/>
          <p:nvPr/>
        </p:nvSpPr>
        <p:spPr>
          <a:xfrm>
            <a:off x="4983480" y="3520440"/>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Monitoring via Flow Context</a:t>
            </a:r>
            <a:endParaRPr lang="en-US" sz="1200" dirty="0"/>
          </a:p>
        </p:txBody>
      </p:sp>
      <p:sp>
        <p:nvSpPr>
          <p:cNvPr id="29" name="Text 23"/>
          <p:cNvSpPr/>
          <p:nvPr/>
        </p:nvSpPr>
        <p:spPr>
          <a:xfrm>
            <a:off x="4983480" y="3776472"/>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Common failure scenarios</a:t>
            </a:r>
            <a:endParaRPr lang="en-US" sz="1200" dirty="0"/>
          </a:p>
        </p:txBody>
      </p:sp>
      <p:sp>
        <p:nvSpPr>
          <p:cNvPr id="30" name="Text 24"/>
          <p:cNvSpPr/>
          <p:nvPr/>
        </p:nvSpPr>
        <p:spPr>
          <a:xfrm>
            <a:off x="4983480" y="4032504"/>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Rollback procedure</a:t>
            </a:r>
            <a:endParaRPr lang="en-US" sz="1200" dirty="0"/>
          </a:p>
        </p:txBody>
      </p:sp>
      <p:sp>
        <p:nvSpPr>
          <p:cNvPr id="31" name="Text 25"/>
          <p:cNvSpPr/>
          <p:nvPr/>
        </p:nvSpPr>
        <p:spPr>
          <a:xfrm>
            <a:off x="4983480" y="4288536"/>
            <a:ext cx="3657600" cy="256032"/>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  Change control notes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365760" y="164592"/>
            <a:ext cx="8229600" cy="36576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Success Metrics &amp; Next Steps</a:t>
            </a:r>
            <a:endParaRPr lang="en-US" sz="2200" dirty="0"/>
          </a:p>
        </p:txBody>
      </p:sp>
      <p:sp>
        <p:nvSpPr>
          <p:cNvPr id="4" name="Shape 2"/>
          <p:cNvSpPr/>
          <p:nvPr/>
        </p:nvSpPr>
        <p:spPr>
          <a:xfrm>
            <a:off x="457200" y="1005840"/>
            <a:ext cx="2011680" cy="1371600"/>
          </a:xfrm>
          <a:prstGeom prst="roundRect">
            <a:avLst>
              <a:gd name="adj" fmla="val 6667"/>
            </a:avLst>
          </a:prstGeom>
          <a:solidFill>
            <a:srgbClr val="F8FAFC"/>
          </a:solidFill>
          <a:ln/>
        </p:spPr>
      </p:sp>
      <p:sp>
        <p:nvSpPr>
          <p:cNvPr id="5" name="Text 3"/>
          <p:cNvSpPr/>
          <p:nvPr/>
        </p:nvSpPr>
        <p:spPr>
          <a:xfrm>
            <a:off x="457200" y="1143000"/>
            <a:ext cx="2011680" cy="502920"/>
          </a:xfrm>
          <a:prstGeom prst="rect">
            <a:avLst/>
          </a:prstGeom>
          <a:noFill/>
          <a:ln/>
        </p:spPr>
        <p:txBody>
          <a:bodyPr wrap="square" rtlCol="0" anchor="ctr"/>
          <a:lstStyle/>
          <a:p>
            <a:pPr algn="ctr" indent="0" marL="0">
              <a:buNone/>
            </a:pPr>
            <a:r>
              <a:rPr lang="en-US" sz="2400" b="1" dirty="0">
                <a:solidFill>
                  <a:srgbClr val="00A86B"/>
                </a:solidFill>
                <a:latin typeface="Arial" pitchFamily="34" charset="0"/>
                <a:ea typeface="Arial" pitchFamily="34" charset="-122"/>
                <a:cs typeface="Arial" pitchFamily="34" charset="-120"/>
              </a:rPr>
              <a:t>100%</a:t>
            </a:r>
            <a:endParaRPr lang="en-US" sz="2400" dirty="0"/>
          </a:p>
        </p:txBody>
      </p:sp>
      <p:sp>
        <p:nvSpPr>
          <p:cNvPr id="6" name="Text 4"/>
          <p:cNvSpPr/>
          <p:nvPr/>
        </p:nvSpPr>
        <p:spPr>
          <a:xfrm>
            <a:off x="548640" y="1691640"/>
            <a:ext cx="1828800" cy="50292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Automated task</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creation rate</a:t>
            </a:r>
            <a:endParaRPr lang="en-US" sz="1200" dirty="0"/>
          </a:p>
        </p:txBody>
      </p:sp>
      <p:sp>
        <p:nvSpPr>
          <p:cNvPr id="7" name="Shape 5"/>
          <p:cNvSpPr/>
          <p:nvPr/>
        </p:nvSpPr>
        <p:spPr>
          <a:xfrm>
            <a:off x="2606040" y="1005840"/>
            <a:ext cx="2011680" cy="1371600"/>
          </a:xfrm>
          <a:prstGeom prst="roundRect">
            <a:avLst>
              <a:gd name="adj" fmla="val 6667"/>
            </a:avLst>
          </a:prstGeom>
          <a:solidFill>
            <a:srgbClr val="F8FAFC"/>
          </a:solidFill>
          <a:ln/>
        </p:spPr>
      </p:sp>
      <p:sp>
        <p:nvSpPr>
          <p:cNvPr id="8" name="Text 6"/>
          <p:cNvSpPr/>
          <p:nvPr/>
        </p:nvSpPr>
        <p:spPr>
          <a:xfrm>
            <a:off x="2606040" y="1143000"/>
            <a:ext cx="2011680" cy="502920"/>
          </a:xfrm>
          <a:prstGeom prst="rect">
            <a:avLst/>
          </a:prstGeom>
          <a:noFill/>
          <a:ln/>
        </p:spPr>
        <p:txBody>
          <a:bodyPr wrap="square" rtlCol="0" anchor="ctr"/>
          <a:lstStyle/>
          <a:p>
            <a:pPr algn="ctr" indent="0" marL="0">
              <a:buNone/>
            </a:pPr>
            <a:r>
              <a:rPr lang="en-US" sz="2400" b="1" dirty="0">
                <a:solidFill>
                  <a:srgbClr val="00A86B"/>
                </a:solidFill>
                <a:latin typeface="Arial" pitchFamily="34" charset="0"/>
                <a:ea typeface="Arial" pitchFamily="34" charset="-122"/>
                <a:cs typeface="Arial" pitchFamily="34" charset="-120"/>
              </a:rPr>
              <a:t>&lt; 5s</a:t>
            </a:r>
            <a:endParaRPr lang="en-US" sz="2400" dirty="0"/>
          </a:p>
        </p:txBody>
      </p:sp>
      <p:sp>
        <p:nvSpPr>
          <p:cNvPr id="9" name="Text 7"/>
          <p:cNvSpPr/>
          <p:nvPr/>
        </p:nvSpPr>
        <p:spPr>
          <a:xfrm>
            <a:off x="2697480" y="1691640"/>
            <a:ext cx="1828800" cy="50292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Average flow</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execution time</a:t>
            </a:r>
            <a:endParaRPr lang="en-US" sz="1200" dirty="0"/>
          </a:p>
        </p:txBody>
      </p:sp>
      <p:sp>
        <p:nvSpPr>
          <p:cNvPr id="10" name="Shape 8"/>
          <p:cNvSpPr/>
          <p:nvPr/>
        </p:nvSpPr>
        <p:spPr>
          <a:xfrm>
            <a:off x="4754880" y="1005840"/>
            <a:ext cx="2011680" cy="1371600"/>
          </a:xfrm>
          <a:prstGeom prst="roundRect">
            <a:avLst>
              <a:gd name="adj" fmla="val 6667"/>
            </a:avLst>
          </a:prstGeom>
          <a:solidFill>
            <a:srgbClr val="F8FAFC"/>
          </a:solidFill>
          <a:ln/>
        </p:spPr>
      </p:sp>
      <p:sp>
        <p:nvSpPr>
          <p:cNvPr id="11" name="Text 9"/>
          <p:cNvSpPr/>
          <p:nvPr/>
        </p:nvSpPr>
        <p:spPr>
          <a:xfrm>
            <a:off x="4754880" y="1143000"/>
            <a:ext cx="2011680" cy="502920"/>
          </a:xfrm>
          <a:prstGeom prst="rect">
            <a:avLst/>
          </a:prstGeom>
          <a:noFill/>
          <a:ln/>
        </p:spPr>
        <p:txBody>
          <a:bodyPr wrap="square" rtlCol="0" anchor="ctr"/>
          <a:lstStyle/>
          <a:p>
            <a:pPr algn="ctr" indent="0" marL="0">
              <a:buNone/>
            </a:pPr>
            <a:r>
              <a:rPr lang="en-US" sz="2400" b="1" dirty="0">
                <a:solidFill>
                  <a:srgbClr val="00A86B"/>
                </a:solidFill>
                <a:latin typeface="Arial" pitchFamily="34" charset="0"/>
                <a:ea typeface="Arial" pitchFamily="34" charset="-122"/>
                <a:cs typeface="Arial" pitchFamily="34" charset="-120"/>
              </a:rPr>
              <a:t>0</a:t>
            </a:r>
            <a:endParaRPr lang="en-US" sz="2400" dirty="0"/>
          </a:p>
        </p:txBody>
      </p:sp>
      <p:sp>
        <p:nvSpPr>
          <p:cNvPr id="12" name="Text 10"/>
          <p:cNvSpPr/>
          <p:nvPr/>
        </p:nvSpPr>
        <p:spPr>
          <a:xfrm>
            <a:off x="4846320" y="1691640"/>
            <a:ext cx="1828800" cy="50292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Manual steps</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removed</a:t>
            </a:r>
            <a:endParaRPr lang="en-US" sz="1200" dirty="0"/>
          </a:p>
        </p:txBody>
      </p:sp>
      <p:sp>
        <p:nvSpPr>
          <p:cNvPr id="13" name="Shape 11"/>
          <p:cNvSpPr/>
          <p:nvPr/>
        </p:nvSpPr>
        <p:spPr>
          <a:xfrm>
            <a:off x="6903720" y="1005840"/>
            <a:ext cx="2011680" cy="1371600"/>
          </a:xfrm>
          <a:prstGeom prst="roundRect">
            <a:avLst>
              <a:gd name="adj" fmla="val 6667"/>
            </a:avLst>
          </a:prstGeom>
          <a:solidFill>
            <a:srgbClr val="F8FAFC"/>
          </a:solidFill>
          <a:ln/>
        </p:spPr>
      </p:sp>
      <p:sp>
        <p:nvSpPr>
          <p:cNvPr id="14" name="Text 12"/>
          <p:cNvSpPr/>
          <p:nvPr/>
        </p:nvSpPr>
        <p:spPr>
          <a:xfrm>
            <a:off x="6903720" y="1143000"/>
            <a:ext cx="2011680" cy="502920"/>
          </a:xfrm>
          <a:prstGeom prst="rect">
            <a:avLst/>
          </a:prstGeom>
          <a:noFill/>
          <a:ln/>
        </p:spPr>
        <p:txBody>
          <a:bodyPr wrap="square" rtlCol="0" anchor="ctr"/>
          <a:lstStyle/>
          <a:p>
            <a:pPr algn="ctr" indent="0" marL="0">
              <a:buNone/>
            </a:pPr>
            <a:r>
              <a:rPr lang="en-US" sz="2400" b="1" dirty="0">
                <a:solidFill>
                  <a:srgbClr val="00A86B"/>
                </a:solidFill>
                <a:latin typeface="Arial" pitchFamily="34" charset="0"/>
                <a:ea typeface="Arial" pitchFamily="34" charset="-122"/>
                <a:cs typeface="Arial" pitchFamily="34" charset="-120"/>
              </a:rPr>
              <a:t>Hardware</a:t>
            </a:r>
            <a:endParaRPr lang="en-US" sz="2400" dirty="0"/>
          </a:p>
        </p:txBody>
      </p:sp>
      <p:sp>
        <p:nvSpPr>
          <p:cNvPr id="15" name="Text 13"/>
          <p:cNvSpPr/>
          <p:nvPr/>
        </p:nvSpPr>
        <p:spPr>
          <a:xfrm>
            <a:off x="6995160" y="1691640"/>
            <a:ext cx="1828800" cy="502920"/>
          </a:xfrm>
          <a:prstGeom prst="rect">
            <a:avLst/>
          </a:prstGeom>
          <a:noFill/>
          <a:ln/>
        </p:spPr>
        <p:txBody>
          <a:bodyPr wrap="square" rtlCol="0" anchor="ctr"/>
          <a:lstStyle/>
          <a:p>
            <a:pPr algn="ctr" indent="0" marL="0">
              <a:buNone/>
            </a:pPr>
            <a:r>
              <a:rPr lang="en-US" sz="1200" dirty="0">
                <a:solidFill>
                  <a:srgbClr val="334155"/>
                </a:solidFill>
                <a:latin typeface="Arial" pitchFamily="34" charset="0"/>
                <a:ea typeface="Arial" pitchFamily="34" charset="-122"/>
                <a:cs typeface="Arial" pitchFamily="34" charset="-120"/>
              </a:rPr>
              <a:t>Consistent</a:t>
            </a:r>
            <a:endParaRPr lang="en-US" sz="1200" dirty="0"/>
          </a:p>
          <a:p>
            <a:pPr algn="ctr" indent="0" marL="0">
              <a:buNone/>
            </a:pPr>
            <a:r>
              <a:rPr lang="en-US" sz="1200" dirty="0">
                <a:solidFill>
                  <a:srgbClr val="334155"/>
                </a:solidFill>
                <a:latin typeface="Arial" pitchFamily="34" charset="0"/>
                <a:ea typeface="Arial" pitchFamily="34" charset="-122"/>
                <a:cs typeface="Arial" pitchFamily="34" charset="-120"/>
              </a:rPr>
              <a:t>assignment group</a:t>
            </a:r>
            <a:endParaRPr lang="en-US" sz="1200" dirty="0"/>
          </a:p>
        </p:txBody>
      </p:sp>
      <p:sp>
        <p:nvSpPr>
          <p:cNvPr id="16" name="Text 14"/>
          <p:cNvSpPr/>
          <p:nvPr/>
        </p:nvSpPr>
        <p:spPr>
          <a:xfrm>
            <a:off x="457200" y="2651760"/>
            <a:ext cx="8229600" cy="27432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Recommended Next Steps</a:t>
            </a:r>
            <a:endParaRPr lang="en-US" sz="1400" dirty="0"/>
          </a:p>
        </p:txBody>
      </p:sp>
      <p:sp>
        <p:nvSpPr>
          <p:cNvPr id="17" name="Text 15"/>
          <p:cNvSpPr/>
          <p:nvPr/>
        </p:nvSpPr>
        <p:spPr>
          <a:xfrm>
            <a:off x="457200" y="3017520"/>
            <a:ext cx="8229600" cy="32004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1.  Extend the same pattern to other standard hardware catalog items (monitors, docking stations, etc.)</a:t>
            </a:r>
            <a:endParaRPr lang="en-US" sz="1300" dirty="0"/>
          </a:p>
        </p:txBody>
      </p:sp>
      <p:sp>
        <p:nvSpPr>
          <p:cNvPr id="18" name="Text 16"/>
          <p:cNvSpPr/>
          <p:nvPr/>
        </p:nvSpPr>
        <p:spPr>
          <a:xfrm>
            <a:off x="457200" y="3383280"/>
            <a:ext cx="8229600" cy="32004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2.  Add approval logic or dynamic assignment based on location / cost center if required</a:t>
            </a:r>
            <a:endParaRPr lang="en-US" sz="1300" dirty="0"/>
          </a:p>
        </p:txBody>
      </p:sp>
      <p:sp>
        <p:nvSpPr>
          <p:cNvPr id="19" name="Text 17"/>
          <p:cNvSpPr/>
          <p:nvPr/>
        </p:nvSpPr>
        <p:spPr>
          <a:xfrm>
            <a:off x="457200" y="3749040"/>
            <a:ext cx="8229600" cy="32004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3.  Surface flow variables or catalog variables into the Catalog Task description for richer context</a:t>
            </a:r>
            <a:endParaRPr lang="en-US" sz="1300" dirty="0"/>
          </a:p>
        </p:txBody>
      </p:sp>
      <p:sp>
        <p:nvSpPr>
          <p:cNvPr id="20" name="Text 18"/>
          <p:cNvSpPr/>
          <p:nvPr/>
        </p:nvSpPr>
        <p:spPr>
          <a:xfrm>
            <a:off x="457200" y="4114800"/>
            <a:ext cx="8229600" cy="32004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4.  Create a dashboard for Hardware group showing open SCTASKs generated by this flow</a:t>
            </a:r>
            <a:endParaRPr lang="en-US" sz="1300" dirty="0"/>
          </a:p>
        </p:txBody>
      </p:sp>
      <p:sp>
        <p:nvSpPr>
          <p:cNvPr id="21" name="Text 19"/>
          <p:cNvSpPr/>
          <p:nvPr/>
        </p:nvSpPr>
        <p:spPr>
          <a:xfrm>
            <a:off x="457200" y="4480560"/>
            <a:ext cx="8229600" cy="32004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5.  Document the flow in the ServiceNow Knowledge Base and link from the catalog item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33"/>
          </a:solidFill>
          <a:ln/>
        </p:spPr>
      </p:sp>
      <p:sp>
        <p:nvSpPr>
          <p:cNvPr id="3" name="Shape 1"/>
          <p:cNvSpPr/>
          <p:nvPr/>
        </p:nvSpPr>
        <p:spPr>
          <a:xfrm>
            <a:off x="0" y="0"/>
            <a:ext cx="137160" cy="5143500"/>
          </a:xfrm>
          <a:prstGeom prst="rect">
            <a:avLst/>
          </a:prstGeom>
          <a:solidFill>
            <a:srgbClr val="00A86B"/>
          </a:solidFill>
          <a:ln/>
        </p:spPr>
      </p:sp>
      <p:pic>
        <p:nvPicPr>
          <p:cNvPr id="4" name="Image 0" descr="preencoded.png">    </p:cNvPr>
          <p:cNvPicPr>
            <a:picLocks noChangeAspect="1"/>
          </p:cNvPicPr>
          <p:nvPr/>
        </p:nvPicPr>
        <p:blipFill>
          <a:blip r:embed="rId1"/>
          <a:stretch>
            <a:fillRect/>
          </a:stretch>
        </p:blipFill>
        <p:spPr>
          <a:xfrm>
            <a:off x="548640" y="1463040"/>
            <a:ext cx="502920" cy="502920"/>
          </a:xfrm>
          <a:prstGeom prst="rect">
            <a:avLst/>
          </a:prstGeom>
        </p:spPr>
      </p:pic>
      <p:sp>
        <p:nvSpPr>
          <p:cNvPr id="5" name="Text 2"/>
          <p:cNvSpPr/>
          <p:nvPr/>
        </p:nvSpPr>
        <p:spPr>
          <a:xfrm>
            <a:off x="1188720" y="1508760"/>
            <a:ext cx="7315200"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Project Complete</a:t>
            </a:r>
            <a:endParaRPr lang="en-US" sz="2600" dirty="0"/>
          </a:p>
        </p:txBody>
      </p:sp>
      <p:sp>
        <p:nvSpPr>
          <p:cNvPr id="6" name="Text 3"/>
          <p:cNvSpPr/>
          <p:nvPr/>
        </p:nvSpPr>
        <p:spPr>
          <a:xfrm>
            <a:off x="1188720" y="2057400"/>
            <a:ext cx="7315200" cy="320040"/>
          </a:xfrm>
          <a:prstGeom prst="rect">
            <a:avLst/>
          </a:prstGeom>
          <a:noFill/>
          <a:ln/>
        </p:spPr>
        <p:txBody>
          <a:bodyPr wrap="square" rtlCol="0" anchor="ctr"/>
          <a:lstStyle/>
          <a:p>
            <a:pPr indent="0" marL="0">
              <a:buNone/>
            </a:pPr>
            <a:r>
              <a:rPr lang="en-US" sz="1600" dirty="0">
                <a:solidFill>
                  <a:srgbClr val="34D399"/>
                </a:solidFill>
                <a:latin typeface="Arial" pitchFamily="34" charset="0"/>
                <a:ea typeface="Arial" pitchFamily="34" charset="-122"/>
                <a:cs typeface="Arial" pitchFamily="34" charset="-120"/>
              </a:rPr>
              <a:t>Standard Laptop Order Automation is live via Flow Designer.</a:t>
            </a:r>
            <a:endParaRPr lang="en-US" sz="1600" dirty="0"/>
          </a:p>
        </p:txBody>
      </p:sp>
      <p:sp>
        <p:nvSpPr>
          <p:cNvPr id="7" name="Text 4"/>
          <p:cNvSpPr/>
          <p:nvPr/>
        </p:nvSpPr>
        <p:spPr>
          <a:xfrm>
            <a:off x="1188720" y="2651760"/>
            <a:ext cx="6858000" cy="82296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Flow: Standard laptop task  •  Trigger: Service Catalog  •  Action: Create Catalog Task</a:t>
            </a:r>
            <a:endParaRPr lang="en-US" sz="1300" dirty="0"/>
          </a:p>
          <a:p>
            <a:pPr indent="0" marL="0">
              <a:buNone/>
            </a:pPr>
            <a:r>
              <a:rPr lang="en-US" sz="1300" dirty="0">
                <a:solidFill>
                  <a:srgbClr val="E2E8F0"/>
                </a:solidFill>
                <a:latin typeface="Arial" pitchFamily="34" charset="0"/>
                <a:ea typeface="Arial" pitchFamily="34" charset="-122"/>
                <a:cs typeface="Arial" pitchFamily="34" charset="-120"/>
              </a:rPr>
              <a:t>Result: Every Standard Laptop RITM automatically generates a Hardware Catalog Task.</a:t>
            </a:r>
            <a:endParaRPr lang="en-US" sz="1300" dirty="0"/>
          </a:p>
        </p:txBody>
      </p:sp>
      <p:sp>
        <p:nvSpPr>
          <p:cNvPr id="8" name="Shape 5"/>
          <p:cNvSpPr/>
          <p:nvPr/>
        </p:nvSpPr>
        <p:spPr>
          <a:xfrm>
            <a:off x="1188720" y="3657600"/>
            <a:ext cx="2011680" cy="45720"/>
          </a:xfrm>
          <a:prstGeom prst="rect">
            <a:avLst/>
          </a:prstGeom>
          <a:solidFill>
            <a:srgbClr val="00A86B"/>
          </a:solidFill>
          <a:ln/>
        </p:spPr>
      </p:sp>
      <p:sp>
        <p:nvSpPr>
          <p:cNvPr id="9" name="Text 6"/>
          <p:cNvSpPr/>
          <p:nvPr/>
        </p:nvSpPr>
        <p:spPr>
          <a:xfrm>
            <a:off x="1188720" y="3931920"/>
            <a:ext cx="6400800" cy="27432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ServiceNow  |  Flow Designer  |  Service Catalog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Streamlining IT Procurement: Automating Standard Laptop Orders with Flow Designer</dc:title>
  <dc:subject>ServiceNow Project Documentation</dc:subject>
  <dc:creator>ServiceNow Implementation Team</dc:creator>
  <cp:lastModifiedBy>ServiceNow Implementation Team</cp:lastModifiedBy>
  <cp:revision>1</cp:revision>
  <dcterms:created xsi:type="dcterms:W3CDTF">2026-10-02T07:14:03Z</dcterms:created>
  <dcterms:modified xsi:type="dcterms:W3CDTF">2026-10-02T07:14:03Z</dcterms:modified>
</cp:coreProperties>
</file>